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72" r:id="rId2"/>
    <p:sldMasterId id="2147483674" r:id="rId3"/>
  </p:sldMasterIdLst>
  <p:notesMasterIdLst>
    <p:notesMasterId r:id="rId17"/>
  </p:notesMasterIdLst>
  <p:sldIdLst>
    <p:sldId id="256" r:id="rId4"/>
    <p:sldId id="272" r:id="rId5"/>
    <p:sldId id="274" r:id="rId6"/>
    <p:sldId id="278" r:id="rId7"/>
    <p:sldId id="279" r:id="rId8"/>
    <p:sldId id="280" r:id="rId9"/>
    <p:sldId id="281" r:id="rId10"/>
    <p:sldId id="275" r:id="rId11"/>
    <p:sldId id="276" r:id="rId12"/>
    <p:sldId id="277" r:id="rId13"/>
    <p:sldId id="282" r:id="rId14"/>
    <p:sldId id="283" r:id="rId15"/>
    <p:sldId id="273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3"/>
  </p:normalViewPr>
  <p:slideViewPr>
    <p:cSldViewPr snapToGrid="0">
      <p:cViewPr varScale="1">
        <p:scale>
          <a:sx n="128" d="100"/>
          <a:sy n="128" d="100"/>
        </p:scale>
        <p:origin x="5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8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0774"/>
            <a:ext cx="6667500" cy="308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72" t="-1287"/>
          <a:stretch/>
        </p:blipFill>
        <p:spPr bwMode="auto">
          <a:xfrm>
            <a:off x="169933" y="107156"/>
            <a:ext cx="2633720" cy="702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1251"/>
            <a:ext cx="6296025" cy="1370774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57625"/>
            <a:ext cx="6305550" cy="7429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3946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81000"/>
            <a:ext cx="8229600" cy="61387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8A9EB5F7-D9A7-330B-0E33-AB89AEDC71C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08170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AA88B1A6-9C39-19F5-C2A3-AE8E7ADB8BC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980942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470D7A7A-63EE-8686-95DC-971D11980A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77942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A576BC96-F135-F0A6-7719-F283C5867C2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9776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B6F65A65-BA67-E51C-C002-2562039C071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5925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A36C0C8-03AA-1BC7-A147-59A64704C17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42387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CC40EE60-D564-5C58-E36C-6B8DF83A2A6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70038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1842A0FF-DB49-31D7-8094-DDFA17CC03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86767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754F6EAE-4383-81D8-9908-5230C9463D0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6515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DBEF3F-D605-8378-C4FB-DDD3BEFACCF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156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0774"/>
            <a:ext cx="6667500" cy="308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" y="116087"/>
            <a:ext cx="3871516" cy="6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1251"/>
            <a:ext cx="6296025" cy="1370774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57625"/>
            <a:ext cx="6305550" cy="7429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2882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0774"/>
            <a:ext cx="6667500" cy="308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" y="116087"/>
            <a:ext cx="3871516" cy="6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1251"/>
            <a:ext cx="6296025" cy="1370774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57625"/>
            <a:ext cx="6305550" cy="7429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9494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088"/>
            <a:ext cx="181570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81000"/>
            <a:ext cx="8229600" cy="6138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2561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3367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1685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62899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6294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85817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09695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032155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7085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0774"/>
            <a:ext cx="6667500" cy="308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" y="116087"/>
            <a:ext cx="3871516" cy="6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1251"/>
            <a:ext cx="6296025" cy="1370774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57625"/>
            <a:ext cx="6305550" cy="7429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vi-V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82618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088"/>
            <a:ext cx="181570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81000"/>
            <a:ext cx="8229600" cy="6138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5522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546528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39646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44505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01508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01846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01374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83131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014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401" y="206375"/>
            <a:ext cx="822920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401" y="1200547"/>
            <a:ext cx="8229203" cy="339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86625" y="4762501"/>
            <a:ext cx="857250" cy="23812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252" y="4762500"/>
            <a:ext cx="2895203" cy="273844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6752" y="4762501"/>
            <a:ext cx="447477" cy="23316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74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401" y="206375"/>
            <a:ext cx="822920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401" y="1200547"/>
            <a:ext cx="8229203" cy="339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86625" y="4762501"/>
            <a:ext cx="857250" cy="23812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252" y="4762500"/>
            <a:ext cx="2895203" cy="273844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6752" y="4762501"/>
            <a:ext cx="447477" cy="23316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3978B8B-6A54-4B8A-89B8-C038D237D2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088"/>
            <a:ext cx="181570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795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401" y="206375"/>
            <a:ext cx="822920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401" y="1200547"/>
            <a:ext cx="8229203" cy="339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86625" y="4762501"/>
            <a:ext cx="857250" cy="23812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252" y="4762500"/>
            <a:ext cx="2895203" cy="273844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6752" y="4762501"/>
            <a:ext cx="447477" cy="23316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BDEED7DB-3B3C-4971-90CB-28CB222268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088"/>
            <a:ext cx="181570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6900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-developer-training.github.io/android-developer-fundamentals-course-concepts-v2/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Fragment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33923-5AFE-4DA5-848B-8AA5FE7183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7475-DA01-4456-AFD3-A2E1EE0F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5F133-C263-4686-883B-EFD4D8778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b="0" dirty="0"/>
              <a:t>What is Fragment</a:t>
            </a:r>
            <a:endParaRPr lang="en-US" sz="1800" b="0" dirty="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b="0" dirty="0"/>
              <a:t>Create Fragment</a:t>
            </a: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b="0" dirty="0"/>
              <a:t>Interact with Activity</a:t>
            </a:r>
            <a:endParaRPr lang="en-US" sz="1800" b="0" dirty="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endParaRPr lang="en-US" sz="1800" dirty="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985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B73E6-996E-4A16-9F69-6CAA0CB3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4ED66-0DAD-42FF-94B7-4BF27BBE4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87287"/>
            <a:ext cx="3624196" cy="358158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Fragment: A reusable segment of Android UI that can appear in an activity.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can help handle different devices and screen sizes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can reuse a common fragment across multiple activities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DFD6B-9CFC-41F3-8A6B-E194790C1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888" y="2104581"/>
            <a:ext cx="5261112" cy="3038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435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2C41-F158-463D-8CB7-0F40B652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Fragment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7438C24-825E-4545-8D72-B5BF33B08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97" y="1078810"/>
            <a:ext cx="6314081" cy="406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47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DA6D-0CE6-4CE8-A96B-ADE2C1421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Fragment to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8CAAF-CD70-49C1-B32A-5A76F26D3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17090"/>
          </a:xfrm>
        </p:spPr>
        <p:txBody>
          <a:bodyPr/>
          <a:lstStyle/>
          <a:p>
            <a:r>
              <a:rPr lang="en-US" dirty="0"/>
              <a:t>Static way:</a:t>
            </a:r>
          </a:p>
          <a:p>
            <a:pPr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800" b="0" dirty="0"/>
              <a:t>&lt;</a:t>
            </a:r>
            <a:r>
              <a:rPr lang="en-US" sz="1800" b="0" dirty="0" err="1"/>
              <a:t>LinearLayout</a:t>
            </a:r>
            <a:r>
              <a:rPr lang="en-US" sz="1800" b="0" dirty="0"/>
              <a:t> </a:t>
            </a:r>
          </a:p>
          <a:p>
            <a:pPr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800" b="0" dirty="0"/>
              <a:t> </a:t>
            </a:r>
            <a:r>
              <a:rPr lang="en-US" sz="1800" b="0" dirty="0" err="1"/>
              <a:t>android:layout_width</a:t>
            </a:r>
            <a:r>
              <a:rPr lang="en-US" sz="1800" b="0" dirty="0"/>
              <a:t>="</a:t>
            </a:r>
            <a:r>
              <a:rPr lang="en-US" sz="1800" b="0" dirty="0" err="1"/>
              <a:t>match_parent</a:t>
            </a:r>
            <a:r>
              <a:rPr lang="en-US" sz="1800" b="0" dirty="0"/>
              <a:t>"</a:t>
            </a:r>
          </a:p>
          <a:p>
            <a:pPr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800" b="0" dirty="0"/>
              <a:t> </a:t>
            </a:r>
            <a:r>
              <a:rPr lang="en-US" sz="1800" b="0" dirty="0" err="1"/>
              <a:t>android:layout_height</a:t>
            </a:r>
            <a:r>
              <a:rPr lang="en-US" sz="1800" b="0" dirty="0"/>
              <a:t>="</a:t>
            </a:r>
            <a:r>
              <a:rPr lang="en-US" sz="1800" b="0" dirty="0" err="1"/>
              <a:t>match_parent</a:t>
            </a:r>
            <a:r>
              <a:rPr lang="en-US" sz="1800" b="0" dirty="0"/>
              <a:t>"&gt;</a:t>
            </a:r>
          </a:p>
          <a:p>
            <a:pPr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800" b="0" dirty="0"/>
              <a:t> 	&lt;fragment </a:t>
            </a:r>
            <a:r>
              <a:rPr lang="en-US" sz="1800" b="0" dirty="0" err="1"/>
              <a:t>android:name</a:t>
            </a:r>
            <a:r>
              <a:rPr lang="en-US" sz="1800" b="0" dirty="0"/>
              <a:t>="</a:t>
            </a:r>
            <a:r>
              <a:rPr lang="en-US" sz="1800" b="0" dirty="0" err="1"/>
              <a:t>com.example.news.ArticleListFragment</a:t>
            </a:r>
            <a:r>
              <a:rPr lang="en-US" sz="1800" b="0" dirty="0"/>
              <a:t>"</a:t>
            </a:r>
          </a:p>
          <a:p>
            <a:pPr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800" b="0" dirty="0"/>
              <a:t> 	</a:t>
            </a:r>
            <a:r>
              <a:rPr lang="en-US" sz="1800" b="0" dirty="0" err="1"/>
              <a:t>android:layout_width</a:t>
            </a:r>
            <a:r>
              <a:rPr lang="en-US" sz="1800" b="0" dirty="0"/>
              <a:t>="</a:t>
            </a:r>
            <a:r>
              <a:rPr lang="en-US" sz="1800" b="0" dirty="0" err="1"/>
              <a:t>match_parent</a:t>
            </a:r>
            <a:r>
              <a:rPr lang="en-US" sz="1800" b="0" dirty="0"/>
              <a:t>"</a:t>
            </a:r>
          </a:p>
          <a:p>
            <a:pPr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800" b="0" dirty="0"/>
              <a:t> 	</a:t>
            </a:r>
            <a:r>
              <a:rPr lang="en-US" sz="1800" b="0" dirty="0" err="1"/>
              <a:t>android:layout_height</a:t>
            </a:r>
            <a:r>
              <a:rPr lang="en-US" sz="1800" b="0" dirty="0"/>
              <a:t>="</a:t>
            </a:r>
            <a:r>
              <a:rPr lang="en-US" sz="1800" b="0" dirty="0" err="1"/>
              <a:t>match_parent</a:t>
            </a:r>
            <a:r>
              <a:rPr lang="en-US" sz="1800" b="0" dirty="0"/>
              <a:t>" /&gt;</a:t>
            </a:r>
          </a:p>
          <a:p>
            <a:pPr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800" b="0" dirty="0"/>
              <a:t>&lt;/</a:t>
            </a:r>
            <a:r>
              <a:rPr lang="en-US" sz="1800" b="0" dirty="0" err="1"/>
              <a:t>LinearLayout</a:t>
            </a:r>
            <a:r>
              <a:rPr lang="en-US" sz="1800" b="0" dirty="0"/>
              <a:t>&gt;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1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AA9F-3F1E-4791-A06A-54E6F793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Fragment to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09DF6-4CC1-4715-AE0D-27CDDFCE7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691195"/>
          </a:xfrm>
        </p:spPr>
        <p:txBody>
          <a:bodyPr/>
          <a:lstStyle/>
          <a:p>
            <a:r>
              <a:rPr lang="en-US" sz="2000" dirty="0"/>
              <a:t>Dynamic way:</a:t>
            </a:r>
          </a:p>
          <a:p>
            <a:pPr marL="344488" indent="0">
              <a:lnSpc>
                <a:spcPct val="150000"/>
              </a:lnSpc>
              <a:buNone/>
            </a:pPr>
            <a:r>
              <a:rPr lang="en-US" sz="1800" b="0" dirty="0" err="1"/>
              <a:t>FragmentManager</a:t>
            </a:r>
            <a:r>
              <a:rPr lang="en-US" sz="1800" b="0" dirty="0"/>
              <a:t> </a:t>
            </a:r>
            <a:r>
              <a:rPr lang="en-US" sz="1800" b="0" dirty="0" err="1"/>
              <a:t>fragmentManager</a:t>
            </a:r>
            <a:r>
              <a:rPr lang="en-US" sz="1800" b="0" dirty="0"/>
              <a:t> = </a:t>
            </a:r>
            <a:r>
              <a:rPr lang="en-US" sz="1800" b="0" dirty="0" err="1"/>
              <a:t>getFragmentManager</a:t>
            </a:r>
            <a:r>
              <a:rPr lang="en-US" sz="1800" b="0" dirty="0"/>
              <a:t>();</a:t>
            </a:r>
          </a:p>
          <a:p>
            <a:pPr marL="344488" indent="0">
              <a:lnSpc>
                <a:spcPct val="150000"/>
              </a:lnSpc>
              <a:buNone/>
            </a:pPr>
            <a:r>
              <a:rPr lang="en-US" sz="1800" b="0" dirty="0" err="1"/>
              <a:t>FragmentTransaction</a:t>
            </a:r>
            <a:r>
              <a:rPr lang="en-US" sz="1800" b="0" dirty="0"/>
              <a:t> </a:t>
            </a:r>
            <a:r>
              <a:rPr lang="en-US" sz="1800" b="0" dirty="0" err="1"/>
              <a:t>fragmentTransaction</a:t>
            </a:r>
            <a:r>
              <a:rPr lang="en-US" sz="1800" b="0" dirty="0"/>
              <a:t> = </a:t>
            </a:r>
          </a:p>
          <a:p>
            <a:pPr marL="344488" indent="0">
              <a:lnSpc>
                <a:spcPct val="150000"/>
              </a:lnSpc>
              <a:buNone/>
            </a:pPr>
            <a:r>
              <a:rPr lang="en-US" sz="1800" b="0" dirty="0" err="1"/>
              <a:t>fragmentManager.beginTransaction</a:t>
            </a:r>
            <a:r>
              <a:rPr lang="en-US" sz="1800" b="0" dirty="0"/>
              <a:t>();</a:t>
            </a:r>
          </a:p>
          <a:p>
            <a:pPr marL="344488" indent="0">
              <a:lnSpc>
                <a:spcPct val="150000"/>
              </a:lnSpc>
              <a:buNone/>
            </a:pPr>
            <a:endParaRPr lang="en-US" sz="1800" b="0" dirty="0"/>
          </a:p>
          <a:p>
            <a:pPr marL="344488" indent="0">
              <a:lnSpc>
                <a:spcPct val="150000"/>
              </a:lnSpc>
              <a:buNone/>
            </a:pPr>
            <a:r>
              <a:rPr lang="en-US" sz="1800" b="0" dirty="0" err="1"/>
              <a:t>ExampleFragment</a:t>
            </a:r>
            <a:r>
              <a:rPr lang="en-US" sz="1800" b="0" dirty="0"/>
              <a:t> fragment = new </a:t>
            </a:r>
            <a:r>
              <a:rPr lang="en-US" sz="1800" b="0" dirty="0" err="1"/>
              <a:t>ExampleFragment</a:t>
            </a:r>
            <a:r>
              <a:rPr lang="en-US" sz="1800" b="0" dirty="0"/>
              <a:t>();</a:t>
            </a:r>
          </a:p>
          <a:p>
            <a:pPr marL="344488" indent="0">
              <a:lnSpc>
                <a:spcPct val="150000"/>
              </a:lnSpc>
              <a:buNone/>
            </a:pPr>
            <a:r>
              <a:rPr lang="en-US" sz="1800" b="0" dirty="0" err="1"/>
              <a:t>fragmentTransaction.add</a:t>
            </a:r>
            <a:r>
              <a:rPr lang="en-US" sz="1800" b="0" dirty="0"/>
              <a:t>(</a:t>
            </a:r>
            <a:r>
              <a:rPr lang="en-US" sz="1800" b="0" dirty="0" err="1"/>
              <a:t>R.id.fragment_container</a:t>
            </a:r>
            <a:r>
              <a:rPr lang="en-US" sz="1800" b="0" dirty="0"/>
              <a:t>, fragment);</a:t>
            </a:r>
          </a:p>
          <a:p>
            <a:pPr marL="344488" indent="0">
              <a:lnSpc>
                <a:spcPct val="150000"/>
              </a:lnSpc>
              <a:buNone/>
            </a:pPr>
            <a:r>
              <a:rPr lang="en-US" sz="1800" b="0" dirty="0" err="1"/>
              <a:t>transaction.addToBackStack</a:t>
            </a:r>
            <a:r>
              <a:rPr lang="en-US" sz="1800" b="0" dirty="0"/>
              <a:t>(null);</a:t>
            </a:r>
          </a:p>
          <a:p>
            <a:pPr marL="344488" indent="0">
              <a:lnSpc>
                <a:spcPct val="150000"/>
              </a:lnSpc>
              <a:buNone/>
            </a:pPr>
            <a:r>
              <a:rPr lang="en-US" sz="1800" b="0" dirty="0" err="1"/>
              <a:t>fragmentTransaction.commit</a:t>
            </a:r>
            <a:r>
              <a:rPr lang="en-US" sz="1800" b="0" dirty="0"/>
              <a:t>();</a:t>
            </a:r>
          </a:p>
          <a:p>
            <a:pPr marL="114300" indent="0">
              <a:buNone/>
            </a:pP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36880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220B-9007-4331-BB83-29A10F567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Communicate with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756E7-E94D-4BAB-A1C0-DD014A1D5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From Activity to Fragment: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keep fragment instance in Activity and call fragment methods directly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From Fragment to Activity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Pass a callback when the Fragment is created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47A12-E448-4415-A9D1-1212E10D01BE}"/>
              </a:ext>
            </a:extLst>
          </p:cNvPr>
          <p:cNvSpPr txBox="1"/>
          <p:nvPr/>
        </p:nvSpPr>
        <p:spPr>
          <a:xfrm>
            <a:off x="159024" y="3021496"/>
            <a:ext cx="4890053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public class </a:t>
            </a:r>
            <a:r>
              <a:rPr lang="en-US" sz="1200" dirty="0" err="1"/>
              <a:t>HeadlinesFragment</a:t>
            </a:r>
            <a:r>
              <a:rPr lang="en-US" sz="1200" dirty="0"/>
              <a:t> extends Fragment { </a:t>
            </a:r>
          </a:p>
          <a:p>
            <a:r>
              <a:rPr lang="en-US" sz="1200" dirty="0"/>
              <a:t>     </a:t>
            </a:r>
            <a:r>
              <a:rPr lang="en-US" sz="1200" dirty="0" err="1"/>
              <a:t>OnHeadlineListener</a:t>
            </a:r>
            <a:r>
              <a:rPr lang="en-US" sz="1200" dirty="0"/>
              <a:t> callback; </a:t>
            </a:r>
          </a:p>
          <a:p>
            <a:r>
              <a:rPr lang="en-US" sz="1200" dirty="0"/>
              <a:t>     public void </a:t>
            </a:r>
            <a:r>
              <a:rPr lang="en-US" sz="1200" dirty="0" err="1"/>
              <a:t>setOnHeadlineListener</a:t>
            </a:r>
            <a:r>
              <a:rPr lang="en-US" sz="1200" dirty="0"/>
              <a:t>(</a:t>
            </a:r>
            <a:r>
              <a:rPr lang="en-US" sz="1200" dirty="0" err="1"/>
              <a:t>OnHeadlineListener</a:t>
            </a:r>
            <a:r>
              <a:rPr lang="en-US" sz="1200" dirty="0"/>
              <a:t> callback)          </a:t>
            </a:r>
          </a:p>
          <a:p>
            <a:r>
              <a:rPr lang="en-US" sz="1200" dirty="0"/>
              <a:t>     {         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this.callback</a:t>
            </a:r>
            <a:r>
              <a:rPr lang="en-US" sz="1200" dirty="0"/>
              <a:t> = callback;</a:t>
            </a:r>
          </a:p>
          <a:p>
            <a:r>
              <a:rPr lang="en-US" sz="1200" dirty="0"/>
              <a:t>     } </a:t>
            </a:r>
          </a:p>
          <a:p>
            <a:r>
              <a:rPr lang="en-US" sz="1200" dirty="0"/>
              <a:t>     public interface </a:t>
            </a:r>
            <a:r>
              <a:rPr lang="en-US" sz="1200" dirty="0" err="1"/>
              <a:t>OnHeadlineListener</a:t>
            </a:r>
            <a:r>
              <a:rPr lang="en-US" sz="1200" dirty="0"/>
              <a:t> { </a:t>
            </a:r>
          </a:p>
          <a:p>
            <a:r>
              <a:rPr lang="en-US" sz="1200" dirty="0"/>
              <a:t>	public void </a:t>
            </a:r>
            <a:r>
              <a:rPr lang="en-US" sz="1200" dirty="0" err="1"/>
              <a:t>onArticleSelected</a:t>
            </a:r>
            <a:r>
              <a:rPr lang="en-US" sz="1200" dirty="0"/>
              <a:t>(int position); </a:t>
            </a:r>
          </a:p>
          <a:p>
            <a:r>
              <a:rPr lang="en-US" sz="1200" dirty="0"/>
              <a:t>    } </a:t>
            </a:r>
          </a:p>
          <a:p>
            <a:r>
              <a:rPr lang="en-US" sz="1200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7F6F3-0FD7-4070-8BAC-B705E8EF3E39}"/>
              </a:ext>
            </a:extLst>
          </p:cNvPr>
          <p:cNvSpPr txBox="1"/>
          <p:nvPr/>
        </p:nvSpPr>
        <p:spPr>
          <a:xfrm>
            <a:off x="5141844" y="2835176"/>
            <a:ext cx="392927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public static class </a:t>
            </a:r>
            <a:r>
              <a:rPr lang="en-US" sz="1200" dirty="0" err="1"/>
              <a:t>MainActivity</a:t>
            </a:r>
            <a:r>
              <a:rPr lang="en-US" sz="1200" dirty="0"/>
              <a:t> extends Activity implements </a:t>
            </a:r>
            <a:r>
              <a:rPr lang="en-US" sz="1200" dirty="0" err="1"/>
              <a:t>OnHeadlineListener</a:t>
            </a:r>
            <a:r>
              <a:rPr lang="en-US" sz="1200" dirty="0"/>
              <a:t> { </a:t>
            </a:r>
          </a:p>
          <a:p>
            <a:r>
              <a:rPr lang="en-US" sz="1200" dirty="0"/>
              <a:t>    @Override </a:t>
            </a:r>
          </a:p>
          <a:p>
            <a:r>
              <a:rPr lang="en-US" sz="1200" dirty="0"/>
              <a:t>    public void </a:t>
            </a:r>
            <a:r>
              <a:rPr lang="en-US" sz="1200" dirty="0" err="1"/>
              <a:t>onAttachFragment</a:t>
            </a:r>
            <a:r>
              <a:rPr lang="en-US" sz="1200" dirty="0"/>
              <a:t>(Fragment fragment) { </a:t>
            </a:r>
          </a:p>
          <a:p>
            <a:r>
              <a:rPr lang="en-US" sz="1200" dirty="0"/>
              <a:t>           if (fragment </a:t>
            </a:r>
            <a:r>
              <a:rPr lang="en-US" sz="1200" dirty="0" err="1"/>
              <a:t>instanceof</a:t>
            </a:r>
            <a:r>
              <a:rPr lang="en-US" sz="1200" dirty="0"/>
              <a:t> </a:t>
            </a:r>
            <a:r>
              <a:rPr lang="en-US" sz="1200" dirty="0" err="1"/>
              <a:t>HeadlinesFragment</a:t>
            </a:r>
            <a:r>
              <a:rPr lang="en-US" sz="1200" dirty="0"/>
              <a:t>) {       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HeadlinesFragment</a:t>
            </a:r>
            <a:r>
              <a:rPr lang="en-US" sz="1200" dirty="0"/>
              <a:t> </a:t>
            </a:r>
            <a:r>
              <a:rPr lang="en-US" sz="1200" dirty="0" err="1"/>
              <a:t>headlinesFragment</a:t>
            </a:r>
            <a:r>
              <a:rPr lang="en-US" sz="1200" dirty="0"/>
              <a:t> = </a:t>
            </a:r>
          </a:p>
          <a:p>
            <a:r>
              <a:rPr lang="en-US" sz="1200" dirty="0"/>
              <a:t>                      (</a:t>
            </a:r>
            <a:r>
              <a:rPr lang="en-US" sz="1200" dirty="0" err="1"/>
              <a:t>HeadlinesFragment</a:t>
            </a:r>
            <a:r>
              <a:rPr lang="en-US" sz="1200" dirty="0"/>
              <a:t>) fragment;   </a:t>
            </a:r>
          </a:p>
          <a:p>
            <a:r>
              <a:rPr lang="en-US" sz="1200" dirty="0"/>
              <a:t>               </a:t>
            </a:r>
          </a:p>
          <a:p>
            <a:r>
              <a:rPr lang="en-US" sz="1200" dirty="0"/>
              <a:t>           </a:t>
            </a:r>
            <a:r>
              <a:rPr lang="en-US" sz="1200" dirty="0" err="1"/>
              <a:t>headlinesFragment.setOnHeadlineListener</a:t>
            </a:r>
            <a:r>
              <a:rPr lang="en-US" sz="1200" dirty="0"/>
              <a:t>(this); </a:t>
            </a:r>
          </a:p>
          <a:p>
            <a:r>
              <a:rPr lang="en-US" sz="1200" dirty="0"/>
              <a:t>           } </a:t>
            </a:r>
          </a:p>
          <a:p>
            <a:r>
              <a:rPr lang="en-US" sz="1200" dirty="0"/>
              <a:t>     } </a:t>
            </a:r>
          </a:p>
          <a:p>
            <a:r>
              <a:rPr lang="en-US" sz="12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34913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445F-F560-4B66-9E9B-C0B47401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lifecycle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EFE90-0483-4D59-AF87-04107AD4E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6473413" cy="3416400"/>
          </a:xfrm>
        </p:spPr>
        <p:txBody>
          <a:bodyPr/>
          <a:lstStyle/>
          <a:p>
            <a:r>
              <a:rPr lang="en-US" dirty="0"/>
              <a:t>Fragments have a similar life cycle and events as activities. </a:t>
            </a:r>
          </a:p>
          <a:p>
            <a:r>
              <a:rPr lang="en-US" dirty="0"/>
              <a:t>Important methods: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 err="1"/>
              <a:t>onAttach</a:t>
            </a:r>
            <a:r>
              <a:rPr lang="en-US" sz="1600" dirty="0"/>
              <a:t> to glue fragment to its surrounding activity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 err="1"/>
              <a:t>onCreate</a:t>
            </a:r>
            <a:r>
              <a:rPr lang="en-US" sz="1600" dirty="0"/>
              <a:t> when fragment is loading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 err="1"/>
              <a:t>onCreateView</a:t>
            </a:r>
            <a:r>
              <a:rPr lang="en-US" sz="1600" dirty="0"/>
              <a:t> method that must return fragment's root UI view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 err="1"/>
              <a:t>onActivityCreated</a:t>
            </a:r>
            <a:r>
              <a:rPr lang="en-US" sz="1600" dirty="0"/>
              <a:t> method that indicates the enclosing activity is ready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 err="1"/>
              <a:t>onPause</a:t>
            </a:r>
            <a:r>
              <a:rPr lang="en-US" sz="1600" dirty="0"/>
              <a:t> when fragment is being left/exited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 err="1"/>
              <a:t>onDetach</a:t>
            </a:r>
            <a:r>
              <a:rPr lang="en-US" sz="1600" dirty="0"/>
              <a:t> just as fragment is being deleted </a:t>
            </a:r>
          </a:p>
        </p:txBody>
      </p:sp>
      <p:pic>
        <p:nvPicPr>
          <p:cNvPr id="6" name="Picture 5" descr="Diagram, funnel chart&#10;&#10;Description automatically generated">
            <a:extLst>
              <a:ext uri="{FF2B5EF4-FFF2-40B4-BE49-F238E27FC236}">
                <a16:creationId xmlns:a16="http://schemas.microsoft.com/office/drawing/2014/main" id="{EE7EA53D-75BE-4EC6-98D9-9F7A3CF37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203" y="0"/>
            <a:ext cx="2360041" cy="51435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24957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D8FE-8345-4989-9591-46F596B7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lifecycle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3ECF1-0112-4B7D-A22F-1F3361824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664690"/>
          </a:xfrm>
        </p:spPr>
        <p:txBody>
          <a:bodyPr/>
          <a:lstStyle/>
          <a:p>
            <a:r>
              <a:rPr lang="en-US" dirty="0"/>
              <a:t>Fragment in an Activity---Activity Lifecyle influences</a:t>
            </a:r>
          </a:p>
          <a:p>
            <a:pPr lvl="1"/>
            <a:r>
              <a:rPr lang="en-US" dirty="0"/>
              <a:t>Activity paused -&gt; all its fragments paused</a:t>
            </a:r>
          </a:p>
          <a:p>
            <a:pPr lvl="1"/>
            <a:r>
              <a:rPr lang="en-US" dirty="0"/>
              <a:t>Activity destroyed -&gt; all its fragments destroyed</a:t>
            </a:r>
          </a:p>
          <a:p>
            <a:pPr lvl="1"/>
            <a:r>
              <a:rPr lang="en-US" dirty="0"/>
              <a:t>Activity running -&gt; manipulate each fragment independently.</a:t>
            </a:r>
          </a:p>
          <a:p>
            <a:r>
              <a:rPr lang="en-US" dirty="0"/>
              <a:t>Fragment transaction: add, remove, etc.</a:t>
            </a:r>
          </a:p>
          <a:p>
            <a:pPr lvl="1"/>
            <a:r>
              <a:rPr lang="en-US" dirty="0"/>
              <a:t>adds it to a back stack that's managed by the activity—each back stack entry in the activity is a record of the fragment transaction that occurred. </a:t>
            </a:r>
          </a:p>
          <a:p>
            <a:pPr lvl="1"/>
            <a:r>
              <a:rPr lang="en-US" dirty="0"/>
              <a:t>The back stack allows the user to reverse a fragment transaction (navigate backwards), by pressing the Back button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985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50A0-4355-4B24-B635-3FD734E5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lifecycle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5308B96-C929-44F0-9FBE-9692041DE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9" y="914400"/>
            <a:ext cx="450574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3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739A-8264-469E-B346-261B241D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subclasses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6993E-AC53-489B-AA2D-65848805E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843935" cy="3416400"/>
          </a:xfrm>
        </p:spPr>
        <p:txBody>
          <a:bodyPr/>
          <a:lstStyle/>
          <a:p>
            <a:r>
              <a:rPr lang="en-US" dirty="0" err="1"/>
              <a:t>DialogFragment</a:t>
            </a:r>
            <a:r>
              <a:rPr lang="en-US" b="0" dirty="0"/>
              <a:t> - a fragment meant to be shown as a dialog box that pops up on top of the current activity.</a:t>
            </a:r>
          </a:p>
          <a:p>
            <a:r>
              <a:rPr lang="en-US" dirty="0" err="1"/>
              <a:t>ListFragment</a:t>
            </a:r>
            <a:r>
              <a:rPr lang="en-US" b="0" dirty="0"/>
              <a:t> - a fragment that shows a list of items as its main content.</a:t>
            </a:r>
          </a:p>
          <a:p>
            <a:r>
              <a:rPr lang="en-US" dirty="0" err="1"/>
              <a:t>PreferenceFragment</a:t>
            </a:r>
            <a:r>
              <a:rPr lang="en-US" b="0" dirty="0"/>
              <a:t> - a fragment whose main content is meant to allow the user to change settings for the app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8A16FE9-88AA-4520-BD3D-8C6F11D43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786" y="0"/>
            <a:ext cx="27299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4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967C-24E2-4468-909E-B309BB2E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C9BB4-3FB8-495C-AA6F-A7E66BD3B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Fragment to make: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ListProduct</a:t>
            </a:r>
            <a:r>
              <a:rPr lang="en-US" dirty="0"/>
              <a:t> Fragment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DetailedProduct</a:t>
            </a:r>
            <a:r>
              <a:rPr lang="en-US" dirty="0"/>
              <a:t> Fragment</a:t>
            </a:r>
          </a:p>
          <a:p>
            <a:pPr marL="596900" lvl="1" indent="0">
              <a:buNone/>
            </a:pPr>
            <a:endParaRPr lang="en-US" dirty="0"/>
          </a:p>
          <a:p>
            <a:r>
              <a:rPr lang="en-US" dirty="0"/>
              <a:t>Click an Item in </a:t>
            </a:r>
            <a:r>
              <a:rPr lang="en-US" dirty="0" err="1"/>
              <a:t>ListProject</a:t>
            </a:r>
            <a:r>
              <a:rPr lang="en-US" dirty="0"/>
              <a:t> Fragment, show </a:t>
            </a:r>
            <a:r>
              <a:rPr lang="en-US" dirty="0" err="1"/>
              <a:t>DetailedProduct</a:t>
            </a:r>
            <a:r>
              <a:rPr lang="en-US" dirty="0"/>
              <a:t> Fragment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207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99E0C-C0AF-465A-AF31-E51CCC73C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33903-65DA-4B4B-8BA3-A03A410F7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https://google-developer-training.github.io/android-developer-fundamentals-course-concepts-v2/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824572"/>
      </p:ext>
    </p:extLst>
  </p:cSld>
  <p:clrMapOvr>
    <a:masterClrMapping/>
  </p:clrMapOvr>
</p:sld>
</file>

<file path=ppt/theme/theme1.xml><?xml version="1.0" encoding="utf-8"?>
<a:theme xmlns:a="http://schemas.openxmlformats.org/drawingml/2006/main" name="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AndroidStructure" id="{C38918FD-31D2-4B51-A8B7-4A0EE41EC165}" vid="{6FFE7F4F-7E43-4C24-8C1D-EFA39DB96C43}"/>
    </a:ext>
  </a:ext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AndroidStructure" id="{C38918FD-31D2-4B51-A8B7-4A0EE41EC165}" vid="{EF869649-281C-40A9-8AC9-A1A2B66CECBC}"/>
    </a:ext>
  </a:extLst>
</a:theme>
</file>

<file path=ppt/theme/theme3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AndroidStructure" id="{C38918FD-31D2-4B51-A8B7-4A0EE41EC165}" vid="{3942A3B0-E6F7-499B-90EA-0D4880C816DB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671</TotalTime>
  <Words>540</Words>
  <Application>Microsoft Office PowerPoint</Application>
  <PresentationFormat>On-screen Show (16:9)</PresentationFormat>
  <Paragraphs>86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Myriad Pro</vt:lpstr>
      <vt:lpstr>Tahoma</vt:lpstr>
      <vt:lpstr>Times New Roman</vt:lpstr>
      <vt:lpstr>2_Theme1</vt:lpstr>
      <vt:lpstr>Theme1</vt:lpstr>
      <vt:lpstr>1_Theme1</vt:lpstr>
      <vt:lpstr>Fragment</vt:lpstr>
      <vt:lpstr>Contents</vt:lpstr>
      <vt:lpstr>Fragment</vt:lpstr>
      <vt:lpstr>Create Fragment</vt:lpstr>
      <vt:lpstr>Add Fragment to Activity</vt:lpstr>
      <vt:lpstr>Add Fragment to Activity</vt:lpstr>
      <vt:lpstr>Communicate with Activity</vt:lpstr>
      <vt:lpstr>Fragment lifecycle</vt:lpstr>
      <vt:lpstr>Fragment lifecycle</vt:lpstr>
      <vt:lpstr>Fragment lifecycle</vt:lpstr>
      <vt:lpstr>Fragment subclasses </vt:lpstr>
      <vt:lpstr>Classwork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</dc:title>
  <cp:lastModifiedBy>Phan Tien Manh</cp:lastModifiedBy>
  <cp:revision>285</cp:revision>
  <dcterms:modified xsi:type="dcterms:W3CDTF">2026-04-09T05:24:50Z</dcterms:modified>
</cp:coreProperties>
</file>