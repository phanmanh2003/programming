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73" r:id="rId2"/>
    <p:sldMasterId id="2147483675" r:id="rId3"/>
  </p:sldMasterIdLst>
  <p:notesMasterIdLst>
    <p:notesMasterId r:id="rId16"/>
  </p:notesMasterIdLst>
  <p:sldIdLst>
    <p:sldId id="256" r:id="rId4"/>
    <p:sldId id="272" r:id="rId5"/>
    <p:sldId id="274" r:id="rId6"/>
    <p:sldId id="259" r:id="rId7"/>
    <p:sldId id="260" r:id="rId8"/>
    <p:sldId id="261" r:id="rId9"/>
    <p:sldId id="277" r:id="rId10"/>
    <p:sldId id="262" r:id="rId11"/>
    <p:sldId id="263" r:id="rId12"/>
    <p:sldId id="264" r:id="rId13"/>
    <p:sldId id="275" r:id="rId14"/>
    <p:sldId id="273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3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0774"/>
            <a:ext cx="6667500" cy="308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54" t="-1287"/>
          <a:stretch/>
        </p:blipFill>
        <p:spPr bwMode="auto">
          <a:xfrm>
            <a:off x="210393" y="184548"/>
            <a:ext cx="2649904" cy="702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1251"/>
            <a:ext cx="6296025" cy="1370774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57625"/>
            <a:ext cx="6305550" cy="7429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5409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381000"/>
            <a:ext cx="8229600" cy="61387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A077DA77-C422-4178-006F-CD45A354B6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41238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75656B26-D0BA-6DE2-184E-E616335815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480151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0FC1659E-5257-CA70-60C2-9CABD9C97F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19967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E6A4B613-C658-20FE-71DC-D8E05EF6A38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69240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90A2FF3A-F5FD-C6AD-19C0-70E96A8231B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48958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DC504689-6DC2-CB66-60FD-1A0DECAAE3B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9982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72572999-E909-D0AE-5677-4CA89BB5789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0561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6E8DFB91-1F17-2DA9-77BB-225A0E2880E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92256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E6C21-4921-42CA-A488-618B657BE0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B3D5318E-2D85-518C-E39B-F1DD38311E0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13001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AE3EC0-F8A6-BFAF-5D01-B5C2BDC943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3" t="4715"/>
          <a:stretch/>
        </p:blipFill>
        <p:spPr bwMode="auto">
          <a:xfrm>
            <a:off x="16187" y="66696"/>
            <a:ext cx="1233363" cy="31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3481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0774"/>
            <a:ext cx="6667500" cy="308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8" y="116087"/>
            <a:ext cx="3871516" cy="69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1251"/>
            <a:ext cx="6296025" cy="1370774"/>
          </a:xfrm>
        </p:spPr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57625"/>
            <a:ext cx="6305550" cy="7429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5449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0774"/>
            <a:ext cx="6667500" cy="308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8" y="116087"/>
            <a:ext cx="3871516" cy="69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1251"/>
            <a:ext cx="6296025" cy="1370774"/>
          </a:xfrm>
        </p:spPr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57625"/>
            <a:ext cx="6305550" cy="7429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56823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088"/>
            <a:ext cx="1815703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381000"/>
            <a:ext cx="8229600" cy="6138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80133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91789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4403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33323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3687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872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0928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9873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303880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060774"/>
            <a:ext cx="6667500" cy="308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8" y="116087"/>
            <a:ext cx="3871516" cy="69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4627" y="2381251"/>
            <a:ext cx="6296025" cy="1370774"/>
          </a:xfrm>
        </p:spPr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3857625"/>
            <a:ext cx="6305550" cy="7429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04/11/2025</a:t>
            </a:fld>
            <a:endParaRPr lang="vi-V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vi-V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124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088"/>
            <a:ext cx="1815703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381000"/>
            <a:ext cx="8229600" cy="6138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04/11/2025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476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04/11/2025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88924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04/11/2025</a:t>
            </a:fld>
            <a:endParaRPr lang="vi-V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590839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04/11/2025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719923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04/11/2025</a:t>
            </a:fld>
            <a:endParaRPr lang="vi-V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6381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04/11/2025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82547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04/11/2025</a:t>
            </a:fld>
            <a:endParaRPr lang="vi-V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6310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2245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A00B59-F77B-4143-9908-A4016BE5E31F}" type="datetimeFigureOut">
              <a:rPr lang="vi-VN" smtClean="0"/>
              <a:t>04/11/2025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EFB50-D8E2-4F7C-99D3-711EF45CF3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2432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401" y="206375"/>
            <a:ext cx="822920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401" y="1200547"/>
            <a:ext cx="8229203" cy="3394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86625" y="4762501"/>
            <a:ext cx="857250" cy="23812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252" y="4762500"/>
            <a:ext cx="2895203" cy="273844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86752" y="4762501"/>
            <a:ext cx="447477" cy="23316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4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401" y="206375"/>
            <a:ext cx="822920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401" y="1200547"/>
            <a:ext cx="8229203" cy="3394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86625" y="4762501"/>
            <a:ext cx="857250" cy="23812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252" y="4762500"/>
            <a:ext cx="2895203" cy="273844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86752" y="4762501"/>
            <a:ext cx="447477" cy="23316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A7FE581E-B4E5-423D-BC0E-0762E670A1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088"/>
            <a:ext cx="1815703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507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401" y="206375"/>
            <a:ext cx="822920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401" y="1200547"/>
            <a:ext cx="8229203" cy="3394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86625" y="4762501"/>
            <a:ext cx="857250" cy="23812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C1A00B59-F77B-4143-9908-A4016BE5E31F}" type="datetimeFigureOut">
              <a:rPr lang="vi-VN" smtClean="0"/>
              <a:pPr defTabSz="914378"/>
              <a:t>04/11/2025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252" y="4762500"/>
            <a:ext cx="2895203" cy="273844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vi-V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86752" y="4762501"/>
            <a:ext cx="447477" cy="233165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pPr defTabSz="914378"/>
            <a:fld id="{9E5EFB50-D8E2-4F7C-99D3-711EF45CF3D6}" type="slidenum">
              <a:rPr lang="vi-VN" smtClean="0"/>
              <a:pPr defTabSz="914378"/>
              <a:t>‹#›</a:t>
            </a:fld>
            <a:endParaRPr lang="vi-VN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0D12D506-AE7A-413C-84D7-6A9AF7268F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9" y="116088"/>
            <a:ext cx="1815703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068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0"/>
          <a:cs typeface="Times New Roman" panose="02020603050405020304" pitchFamily="18" charset="0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sonplaceholder.typicode.com/" TargetMode="External"/><Relationship Id="rId2" Type="http://schemas.openxmlformats.org/officeDocument/2006/relationships/hyperlink" Target="https://jsonplaceholder.typicode.com/posts" TargetMode="Externa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sonplaceholder.typicode.com/" TargetMode="External"/><Relationship Id="rId2" Type="http://schemas.openxmlformats.org/officeDocument/2006/relationships/hyperlink" Target="https://guides.codepath.com/android/consuming-apis-with-retrofit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Web services - Retrofit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33923-5AFE-4DA5-848B-8AA5FE7183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7475-DA01-4456-AFD3-A2E1EE0F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5F133-C263-4686-883B-EFD4D8778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dirty="0"/>
              <a:t>Web services</a:t>
            </a: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dirty="0"/>
              <a:t>Retrofit</a:t>
            </a: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endParaRPr lang="en-US" sz="1800" dirty="0"/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985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559F-5A7D-431A-8FFD-DD12C80B7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web services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E84801D-3972-4703-B48F-94FAD709E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60" y="1197650"/>
            <a:ext cx="7018659" cy="367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14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Retrofit</a:t>
            </a:r>
            <a:endParaRPr lang="en-GB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 marL="458820" indent="-342900">
              <a:lnSpc>
                <a:spcPct val="115000"/>
              </a:lnSpc>
              <a:buClr>
                <a:srgbClr val="595959"/>
              </a:buClr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 type-safe REST client for Android developed by Square</a:t>
            </a:r>
          </a:p>
          <a:p>
            <a:pPr marL="458820" indent="-342900">
              <a:lnSpc>
                <a:spcPct val="115000"/>
              </a:lnSpc>
              <a:buClr>
                <a:srgbClr val="595959"/>
              </a:buClr>
              <a:buFont typeface="Arial" panose="020B0604020202020204" pitchFamily="34" charset="0"/>
              <a:buChar char="•"/>
            </a:pPr>
            <a:r>
              <a:rPr lang="en-US" sz="2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 to retrieve and upload JSON (or other structured data) via a REST based webservice</a:t>
            </a:r>
            <a:endParaRPr lang="en-GB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820" indent="-342900">
              <a:lnSpc>
                <a:spcPct val="115000"/>
              </a:lnSpc>
              <a:buClr>
                <a:srgbClr val="595959"/>
              </a:buClr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Set up</a:t>
            </a:r>
            <a:endParaRPr lang="en-GB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946800" y="3084840"/>
            <a:ext cx="6970680" cy="1014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000000"/>
                </a:solidFill>
                <a:latin typeface="Courier New"/>
                <a:ea typeface="Courier New"/>
              </a:rPr>
              <a:t>dependencies {</a:t>
            </a:r>
            <a:br>
              <a:rPr dirty="0"/>
            </a:br>
            <a:r>
              <a:rPr lang="en-US" sz="1200" b="0" strike="noStrike" spc="-1" dirty="0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br>
              <a:rPr dirty="0"/>
            </a:br>
            <a:r>
              <a:rPr lang="en-US" sz="1200" b="1" strike="noStrike" spc="-1" dirty="0">
                <a:solidFill>
                  <a:srgbClr val="008000"/>
                </a:solidFill>
                <a:latin typeface="Courier New"/>
                <a:ea typeface="Courier New"/>
              </a:rPr>
              <a:t>    </a:t>
            </a:r>
            <a:r>
              <a:rPr lang="en-US" sz="1400" b="0" strike="noStrike" spc="-1" dirty="0">
                <a:solidFill>
                  <a:srgbClr val="000000"/>
                </a:solidFill>
                <a:latin typeface="Courier New"/>
                <a:ea typeface="Courier New"/>
              </a:rPr>
              <a:t>implementation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lang="en-US" sz="1200" b="1" strike="noStrike" spc="-1" dirty="0">
                <a:solidFill>
                  <a:srgbClr val="008000"/>
                </a:solidFill>
                <a:latin typeface="Courier New"/>
                <a:ea typeface="Courier New"/>
              </a:rPr>
              <a:t>'com.squareup.retrofit2:retrofit:2.0.2'</a:t>
            </a:r>
            <a:br>
              <a:rPr dirty="0"/>
            </a:br>
            <a:r>
              <a:rPr lang="en-US" sz="1200" b="1" strike="noStrike" spc="-1" dirty="0">
                <a:solidFill>
                  <a:srgbClr val="008000"/>
                </a:solidFill>
                <a:latin typeface="Courier New"/>
                <a:ea typeface="Courier New"/>
              </a:rPr>
              <a:t>    </a:t>
            </a:r>
            <a:r>
              <a:rPr lang="en-US" sz="1400" b="0" strike="noStrike" spc="-1" dirty="0">
                <a:solidFill>
                  <a:srgbClr val="000000"/>
                </a:solidFill>
                <a:latin typeface="Courier New"/>
                <a:ea typeface="Courier New"/>
              </a:rPr>
              <a:t>implementation</a:t>
            </a:r>
            <a:r>
              <a:rPr lang="en-US" sz="1200" b="0" strike="noStrike" spc="-1" dirty="0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lang="en-US" sz="1200" b="1" strike="noStrike" spc="-1" dirty="0">
                <a:solidFill>
                  <a:srgbClr val="008000"/>
                </a:solidFill>
                <a:latin typeface="Courier New"/>
                <a:ea typeface="Courier New"/>
              </a:rPr>
              <a:t>'com.squareup.retrofit2:converter-gson:2.0.2‘</a:t>
            </a:r>
            <a:endParaRPr lang="en-GB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 dirty="0">
                <a:solidFill>
                  <a:srgbClr val="008000"/>
                </a:solidFill>
                <a:latin typeface="Courier New"/>
                <a:ea typeface="Courier New"/>
              </a:rPr>
              <a:t>}</a:t>
            </a:r>
            <a:endParaRPr lang="en-GB" sz="1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POST creates a resource on the server .</a:t>
            </a:r>
            <a:endParaRPr lang="en-GB" sz="1400" b="0" strike="noStrike" spc="-1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GET retrieves an appropriate resource .</a:t>
            </a:r>
            <a:endParaRPr lang="en-GB" sz="1400" b="0" strike="noStrike" spc="-1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PUT should be used to update the resource or change the state .</a:t>
            </a:r>
            <a:endParaRPr lang="en-GB" sz="1400" b="0" strike="noStrike" spc="-1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DELETE is used only to remove the resource .</a:t>
            </a:r>
            <a:endParaRPr lang="en-GB" sz="1400" b="0" strike="noStrike" spc="-1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312120" y="444960"/>
            <a:ext cx="8518680" cy="57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HTTP Methods</a:t>
            </a:r>
            <a:endParaRPr lang="en-GB" sz="2800" b="1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349560" y="1371600"/>
            <a:ext cx="8518680" cy="341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@Body: sends Java objects as request body.</a:t>
            </a:r>
            <a:endParaRPr lang="en-GB" sz="1400" b="0" strike="noStrike" spc="-1" dirty="0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@Path: variable substitution for the API endpoint</a:t>
            </a:r>
            <a:endParaRPr lang="en-GB" sz="1400" b="0" strike="noStrike" spc="-1" dirty="0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@Url: use dynamic URLs.</a:t>
            </a:r>
            <a:endParaRPr lang="en-GB" sz="1400" b="0" strike="noStrike" spc="-1" dirty="0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@Query: To URL encode a query use the form</a:t>
            </a:r>
            <a:endParaRPr lang="en-GB" sz="1400" b="0" strike="noStrike" spc="-1" dirty="0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@Field: send data as form-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urlencoded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. The @Field parameter works only with a POST</a:t>
            </a:r>
            <a:endParaRPr lang="en-GB" sz="1400" b="0" strike="noStrike" spc="-1" dirty="0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312120" y="444960"/>
            <a:ext cx="8518680" cy="57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Method Annotations </a:t>
            </a:r>
            <a:endParaRPr lang="en-GB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349560" y="1371600"/>
            <a:ext cx="8518680" cy="341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latin typeface="Arial"/>
              </a:rPr>
              <a:t>Model class which is used as a JSON model</a:t>
            </a: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latin typeface="Arial"/>
              </a:rPr>
              <a:t>Interfaces that define the possible HTTP operations</a:t>
            </a: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 err="1">
                <a:latin typeface="Arial"/>
              </a:rPr>
              <a:t>Retrofit.Builder</a:t>
            </a:r>
            <a:r>
              <a:rPr lang="en-US" sz="1400" b="0" strike="noStrike" spc="-1" dirty="0">
                <a:latin typeface="Arial"/>
              </a:rPr>
              <a:t> class - Instance which uses the interface and the Builder API to allow defining the URL end point for the HTTP operations.</a:t>
            </a:r>
            <a:endParaRPr lang="en-GB" sz="1400" b="0" strike="noStrike" spc="-1" dirty="0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312120" y="444960"/>
            <a:ext cx="8518680" cy="57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Retrofit Implementation steps</a:t>
            </a:r>
            <a:endParaRPr lang="en-GB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440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463040" y="1737360"/>
            <a:ext cx="6975360" cy="18273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333333"/>
                </a:solidFill>
                <a:latin typeface="Consolas"/>
                <a:ea typeface="Consolas"/>
              </a:rPr>
              <a:t>public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1" strike="noStrike" spc="-1" dirty="0">
                <a:solidFill>
                  <a:srgbClr val="333333"/>
                </a:solidFill>
                <a:latin typeface="Consolas"/>
                <a:ea typeface="Consolas"/>
              </a:rPr>
              <a:t>interface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1" strike="noStrike" spc="-1" dirty="0" err="1">
                <a:solidFill>
                  <a:srgbClr val="445588"/>
                </a:solidFill>
                <a:latin typeface="Consolas"/>
                <a:ea typeface="Consolas"/>
              </a:rPr>
              <a:t>MyApiEndpointInterface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{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@GET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400" b="0" strike="noStrike" spc="-1" dirty="0">
                <a:solidFill>
                  <a:srgbClr val="DD1144"/>
                </a:solidFill>
                <a:latin typeface="Consolas"/>
                <a:ea typeface="Consolas"/>
              </a:rPr>
              <a:t>"users/{username}"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Call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&lt;</a:t>
            </a: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User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&gt;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0" strike="noStrike" spc="-1" dirty="0" err="1">
                <a:solidFill>
                  <a:srgbClr val="333333"/>
                </a:solidFill>
                <a:latin typeface="Arial"/>
                <a:ea typeface="Arial"/>
              </a:rPr>
              <a:t>getUser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@Path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400" b="0" strike="noStrike" spc="-1" dirty="0">
                <a:solidFill>
                  <a:srgbClr val="DD1144"/>
                </a:solidFill>
                <a:latin typeface="Consolas"/>
                <a:ea typeface="Consolas"/>
              </a:rPr>
              <a:t>"username"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String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username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);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@GET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400" b="0" strike="noStrike" spc="-1" dirty="0">
                <a:solidFill>
                  <a:srgbClr val="DD1144"/>
                </a:solidFill>
                <a:latin typeface="Consolas"/>
                <a:ea typeface="Consolas"/>
              </a:rPr>
              <a:t>"group/{id}/users"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Call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&lt;</a:t>
            </a: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List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&lt;</a:t>
            </a: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User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&gt;&gt;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0" strike="noStrike" spc="-1" dirty="0" err="1">
                <a:solidFill>
                  <a:srgbClr val="333333"/>
                </a:solidFill>
                <a:latin typeface="Arial"/>
                <a:ea typeface="Arial"/>
              </a:rPr>
              <a:t>groupList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@Path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400" b="0" strike="noStrike" spc="-1" dirty="0">
                <a:solidFill>
                  <a:srgbClr val="DD1144"/>
                </a:solidFill>
                <a:latin typeface="Consolas"/>
                <a:ea typeface="Consolas"/>
              </a:rPr>
              <a:t>"id"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1" strike="noStrike" spc="-1" dirty="0">
                <a:solidFill>
                  <a:srgbClr val="445588"/>
                </a:solidFill>
                <a:latin typeface="Consolas"/>
                <a:ea typeface="Consolas"/>
              </a:rPr>
              <a:t>int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0" strike="noStrike" spc="-1" dirty="0" err="1">
                <a:solidFill>
                  <a:srgbClr val="333333"/>
                </a:solidFill>
                <a:latin typeface="Arial"/>
                <a:ea typeface="Arial"/>
              </a:rPr>
              <a:t>groupId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,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@Query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400" b="0" strike="noStrike" spc="-1" dirty="0">
                <a:solidFill>
                  <a:srgbClr val="DD1144"/>
                </a:solidFill>
                <a:latin typeface="Consolas"/>
                <a:ea typeface="Consolas"/>
              </a:rPr>
              <a:t>"sort"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String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sort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);</a:t>
            </a: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@POST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400" b="0" strike="noStrike" spc="-1" dirty="0">
                <a:solidFill>
                  <a:srgbClr val="DD1144"/>
                </a:solidFill>
                <a:latin typeface="Consolas"/>
                <a:ea typeface="Consolas"/>
              </a:rPr>
              <a:t>"users/new"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Call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&lt;</a:t>
            </a: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User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&gt;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0" strike="noStrike" spc="-1" dirty="0" err="1">
                <a:solidFill>
                  <a:srgbClr val="333333"/>
                </a:solidFill>
                <a:latin typeface="Arial"/>
                <a:ea typeface="Arial"/>
              </a:rPr>
              <a:t>createUser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@Body </a:t>
            </a: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User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4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user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);</a:t>
            </a:r>
            <a:r>
              <a:rPr lang="en-US" sz="14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}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GB" sz="1400" b="0" strike="noStrike" spc="-1" dirty="0"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312120" y="444960"/>
            <a:ext cx="8518680" cy="57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Retrofit Implementation</a:t>
            </a:r>
            <a:endParaRPr lang="en-GB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CustomShape 3"/>
          <p:cNvSpPr/>
          <p:nvPr/>
        </p:nvSpPr>
        <p:spPr>
          <a:xfrm>
            <a:off x="365760" y="1017360"/>
            <a:ext cx="4021920" cy="60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- Creating the API Interface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Retrofit Implementation</a:t>
            </a:r>
            <a:endParaRPr lang="en-GB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311760" y="1017360"/>
            <a:ext cx="8518680" cy="4284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 marL="457200" indent="-3412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lang="en-US" sz="2000" b="0" strike="noStrike" spc="-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Create Java Classes for Resources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Using </a:t>
            </a:r>
            <a:r>
              <a:rPr lang="en-US" sz="2000" b="0" u="sng" strike="noStrike" spc="-1" dirty="0"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jsonschema2pojo</a:t>
            </a:r>
            <a:endParaRPr lang="en-GB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en-GB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412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lang="en-US" sz="2000" b="0" strike="noStrike" spc="-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Creating the Retrofit instance</a:t>
            </a:r>
            <a:br>
              <a:rPr dirty="0"/>
            </a:br>
            <a:r>
              <a:rPr lang="en-US" sz="1600" b="1" strike="noStrike" spc="-1" dirty="0">
                <a:solidFill>
                  <a:srgbClr val="333333"/>
                </a:solidFill>
                <a:latin typeface="Consolas"/>
                <a:ea typeface="Arial"/>
              </a:rPr>
              <a:t> </a:t>
            </a:r>
            <a:endParaRPr lang="en-GB" sz="1600" b="0" strike="noStrike" spc="-1" dirty="0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lang="en-GB" sz="1600" b="0" strike="noStrike" spc="-1" dirty="0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lang="en-GB" sz="1600" b="0" strike="noStrike" spc="-1" dirty="0">
              <a:latin typeface="Arial"/>
            </a:endParaRPr>
          </a:p>
        </p:txBody>
      </p:sp>
      <p:sp>
        <p:nvSpPr>
          <p:cNvPr id="95" name="CustomShape 3"/>
          <p:cNvSpPr/>
          <p:nvPr/>
        </p:nvSpPr>
        <p:spPr>
          <a:xfrm>
            <a:off x="510209" y="2741911"/>
            <a:ext cx="8373240" cy="16232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strike="noStrike" spc="-1" dirty="0">
                <a:solidFill>
                  <a:srgbClr val="333333"/>
                </a:solidFill>
                <a:latin typeface="Consolas"/>
                <a:ea typeface="Consolas"/>
              </a:rPr>
              <a:t>public</a:t>
            </a:r>
            <a:r>
              <a:rPr lang="en-US" sz="16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600" b="1" strike="noStrike" spc="-1" dirty="0">
                <a:solidFill>
                  <a:srgbClr val="333333"/>
                </a:solidFill>
                <a:latin typeface="Consolas"/>
                <a:ea typeface="Consolas"/>
              </a:rPr>
              <a:t>static</a:t>
            </a:r>
            <a:r>
              <a:rPr lang="en-US" sz="16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600" b="1" strike="noStrike" spc="-1" dirty="0">
                <a:solidFill>
                  <a:srgbClr val="333333"/>
                </a:solidFill>
                <a:latin typeface="Consolas"/>
                <a:ea typeface="Consolas"/>
              </a:rPr>
              <a:t>final</a:t>
            </a:r>
            <a:r>
              <a:rPr lang="en-US" sz="16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6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String</a:t>
            </a:r>
            <a:r>
              <a:rPr lang="en-US" sz="16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6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BASE_URL</a:t>
            </a:r>
            <a:r>
              <a:rPr lang="en-US" sz="16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6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=</a:t>
            </a:r>
            <a:r>
              <a:rPr lang="en-US" sz="16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600" b="0" strike="noStrike" spc="-1" dirty="0">
                <a:solidFill>
                  <a:srgbClr val="DD1144"/>
                </a:solidFill>
                <a:latin typeface="Consolas"/>
                <a:ea typeface="Consolas"/>
              </a:rPr>
              <a:t>"http://api.myservice.com/"</a:t>
            </a:r>
            <a:r>
              <a:rPr lang="en-US" sz="16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;</a:t>
            </a:r>
            <a:r>
              <a:rPr lang="en-US" sz="16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endParaRPr lang="en-GB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Retrofit</a:t>
            </a:r>
            <a:r>
              <a:rPr lang="en-US" sz="13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300" b="0" strike="noStrike" spc="-1" dirty="0" err="1">
                <a:solidFill>
                  <a:srgbClr val="333333"/>
                </a:solidFill>
                <a:latin typeface="Arial"/>
                <a:ea typeface="Arial"/>
              </a:rPr>
              <a:t>retrofit</a:t>
            </a:r>
            <a:r>
              <a:rPr lang="en-US" sz="13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=</a:t>
            </a:r>
            <a:r>
              <a:rPr lang="en-US" sz="13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300" b="1" strike="noStrike" spc="-1" dirty="0">
                <a:solidFill>
                  <a:srgbClr val="333333"/>
                </a:solidFill>
                <a:latin typeface="Consolas"/>
                <a:ea typeface="Consolas"/>
              </a:rPr>
              <a:t>new</a:t>
            </a:r>
            <a:r>
              <a:rPr lang="en-US" sz="13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300" b="0" strike="noStrike" spc="-1" dirty="0" err="1">
                <a:solidFill>
                  <a:srgbClr val="333333"/>
                </a:solidFill>
                <a:latin typeface="Arial"/>
                <a:ea typeface="Arial"/>
              </a:rPr>
              <a:t>Retrofit</a:t>
            </a:r>
            <a:r>
              <a:rPr lang="en-US" sz="13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.</a:t>
            </a:r>
            <a:r>
              <a:rPr lang="en-US" sz="1300" b="0" strike="noStrike" spc="-1" dirty="0" err="1">
                <a:solidFill>
                  <a:srgbClr val="008080"/>
                </a:solidFill>
                <a:latin typeface="Consolas"/>
                <a:ea typeface="Consolas"/>
              </a:rPr>
              <a:t>Builder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()</a:t>
            </a:r>
            <a:r>
              <a:rPr lang="en-US" sz="13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.</a:t>
            </a:r>
            <a:r>
              <a:rPr lang="en-US" sz="1300" b="0" strike="noStrike" spc="-1" dirty="0" err="1">
                <a:solidFill>
                  <a:srgbClr val="008080"/>
                </a:solidFill>
                <a:latin typeface="Consolas"/>
                <a:ea typeface="Consolas"/>
              </a:rPr>
              <a:t>baseUrl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300" b="0" strike="noStrike" spc="-1" dirty="0">
                <a:solidFill>
                  <a:srgbClr val="333333"/>
                </a:solidFill>
                <a:latin typeface="Arial"/>
                <a:ea typeface="Arial"/>
              </a:rPr>
              <a:t>BASE_URL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lang="en-US" sz="13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					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.</a:t>
            </a:r>
            <a:r>
              <a:rPr lang="en-US" sz="1300" b="0" strike="noStrike" spc="-1" dirty="0" err="1">
                <a:solidFill>
                  <a:srgbClr val="008080"/>
                </a:solidFill>
                <a:latin typeface="Consolas"/>
                <a:ea typeface="Consolas"/>
              </a:rPr>
              <a:t>addConverterFactory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300" b="0" strike="noStrike" spc="-1" dirty="0" err="1">
                <a:solidFill>
                  <a:srgbClr val="333333"/>
                </a:solidFill>
                <a:latin typeface="Arial"/>
                <a:ea typeface="Arial"/>
              </a:rPr>
              <a:t>GsonConverterFactory</a:t>
            </a:r>
            <a:r>
              <a:rPr lang="en-US" sz="13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.</a:t>
            </a:r>
            <a:r>
              <a:rPr lang="en-US" sz="1300" b="0" strike="noStrike" spc="-1" dirty="0" err="1">
                <a:solidFill>
                  <a:srgbClr val="008080"/>
                </a:solidFill>
                <a:latin typeface="Consolas"/>
                <a:ea typeface="Consolas"/>
              </a:rPr>
              <a:t>create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())</a:t>
            </a:r>
            <a:r>
              <a:rPr lang="en-US" sz="1300" b="0" strike="noStrike" spc="-1" dirty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.</a:t>
            </a:r>
            <a:r>
              <a:rPr lang="en-US" sz="1300" b="0" strike="noStrike" spc="-1" dirty="0">
                <a:solidFill>
                  <a:srgbClr val="008080"/>
                </a:solidFill>
                <a:latin typeface="Consolas"/>
                <a:ea typeface="Consolas"/>
              </a:rPr>
              <a:t>build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();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trike="noStrike" spc="-1" dirty="0" err="1">
                <a:solidFill>
                  <a:srgbClr val="445588"/>
                </a:solidFill>
                <a:latin typeface="Consolas"/>
                <a:ea typeface="Consolas"/>
              </a:rPr>
              <a:t>MyApiEndpointInterface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US" sz="13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myRetrofitAPI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 = </a:t>
            </a:r>
            <a:r>
              <a:rPr lang="en-US" sz="13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retrofit.create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400" b="1" strike="noStrike" spc="-1" dirty="0" err="1">
                <a:solidFill>
                  <a:srgbClr val="445588"/>
                </a:solidFill>
                <a:latin typeface="Consolas"/>
                <a:ea typeface="Consolas"/>
              </a:rPr>
              <a:t>MyApiEndpointInterface</a:t>
            </a:r>
            <a:r>
              <a:rPr lang="en-US" sz="13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.class</a:t>
            </a: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);</a:t>
            </a:r>
            <a:r>
              <a:rPr lang="en-US" sz="13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GB" sz="13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311760" y="444960"/>
            <a:ext cx="8518680" cy="57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Retrofit Implementation</a:t>
            </a:r>
            <a:endParaRPr lang="en-GB" sz="2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653040" y="1243080"/>
            <a:ext cx="8518680" cy="341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 marL="457200" indent="-34128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Call 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15000"/>
              </a:lnSpc>
            </a:pP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 err="1">
                <a:solidFill>
                  <a:srgbClr val="000000"/>
                </a:solidFill>
                <a:latin typeface="Menlo"/>
                <a:ea typeface="Menlo"/>
              </a:rPr>
              <a:t>ApiService.getPost</a:t>
            </a: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().enqueue(</a:t>
            </a:r>
            <a:r>
              <a:rPr lang="en-US" sz="1300" b="1" strike="noStrike" spc="-1" dirty="0">
                <a:solidFill>
                  <a:srgbClr val="00006D"/>
                </a:solidFill>
                <a:latin typeface="Menlo"/>
                <a:ea typeface="Menlo"/>
              </a:rPr>
              <a:t>new </a:t>
            </a: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Callback&lt;Post&gt;() {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    </a:t>
            </a:r>
            <a:r>
              <a:rPr lang="en-US" sz="1300" b="0" strike="noStrike" spc="-1" dirty="0">
                <a:solidFill>
                  <a:srgbClr val="6D6F05"/>
                </a:solidFill>
                <a:latin typeface="Menlo"/>
                <a:ea typeface="Menlo"/>
              </a:rPr>
              <a:t>@Override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6D6F05"/>
                </a:solidFill>
                <a:latin typeface="Menlo"/>
                <a:ea typeface="Menlo"/>
              </a:rPr>
              <a:t>    </a:t>
            </a:r>
            <a:r>
              <a:rPr lang="en-US" sz="1300" b="1" strike="noStrike" spc="-1" dirty="0">
                <a:solidFill>
                  <a:srgbClr val="00006D"/>
                </a:solidFill>
                <a:latin typeface="Menlo"/>
                <a:ea typeface="Menlo"/>
              </a:rPr>
              <a:t>public void </a:t>
            </a:r>
            <a:r>
              <a:rPr lang="en-US" sz="1300" b="0" strike="noStrike" spc="-1" dirty="0" err="1">
                <a:solidFill>
                  <a:srgbClr val="000000"/>
                </a:solidFill>
                <a:latin typeface="Menlo"/>
                <a:ea typeface="Menlo"/>
              </a:rPr>
              <a:t>onResponse</a:t>
            </a: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(Call&lt;</a:t>
            </a:r>
            <a:r>
              <a:rPr lang="en-US" sz="1300" spc="-1" dirty="0">
                <a:solidFill>
                  <a:srgbClr val="000000"/>
                </a:solidFill>
                <a:latin typeface="Menlo"/>
                <a:ea typeface="Menlo"/>
              </a:rPr>
              <a:t> Post </a:t>
            </a: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&gt; call, Response&lt;</a:t>
            </a:r>
            <a:r>
              <a:rPr lang="en-US" sz="1300" spc="-1" dirty="0">
                <a:solidFill>
                  <a:srgbClr val="000000"/>
                </a:solidFill>
                <a:latin typeface="Menlo"/>
                <a:ea typeface="Menlo"/>
              </a:rPr>
              <a:t> Post </a:t>
            </a: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&gt; response) {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        // Success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     </a:t>
            </a:r>
            <a:r>
              <a:rPr lang="en-US" sz="13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}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    </a:t>
            </a:r>
            <a:r>
              <a:rPr lang="en-US" sz="1300" b="0" strike="noStrike" spc="-1" dirty="0">
                <a:solidFill>
                  <a:srgbClr val="6D6F05"/>
                </a:solidFill>
                <a:latin typeface="Menlo"/>
                <a:ea typeface="Menlo"/>
              </a:rPr>
              <a:t>@Override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6D6F05"/>
                </a:solidFill>
                <a:latin typeface="Menlo"/>
                <a:ea typeface="Menlo"/>
              </a:rPr>
              <a:t>    </a:t>
            </a:r>
            <a:r>
              <a:rPr lang="en-US" sz="1300" b="1" strike="noStrike" spc="-1" dirty="0">
                <a:solidFill>
                  <a:srgbClr val="00006D"/>
                </a:solidFill>
                <a:latin typeface="Menlo"/>
                <a:ea typeface="Menlo"/>
              </a:rPr>
              <a:t>public void </a:t>
            </a:r>
            <a:r>
              <a:rPr lang="en-US" sz="1300" b="0" strike="noStrike" spc="-1" dirty="0" err="1">
                <a:solidFill>
                  <a:srgbClr val="000000"/>
                </a:solidFill>
                <a:latin typeface="Menlo"/>
                <a:ea typeface="Menlo"/>
              </a:rPr>
              <a:t>onFailure</a:t>
            </a: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(Call&lt;</a:t>
            </a:r>
            <a:r>
              <a:rPr lang="en-US" sz="1300" spc="-1" dirty="0">
                <a:solidFill>
                  <a:srgbClr val="000000"/>
                </a:solidFill>
                <a:latin typeface="Menlo"/>
                <a:ea typeface="Menlo"/>
              </a:rPr>
              <a:t> Post </a:t>
            </a: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&gt; call, Throwable t) {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000000"/>
                </a:solidFill>
                <a:latin typeface="Menlo"/>
                <a:ea typeface="Menlo"/>
              </a:rPr>
              <a:t>        //Failed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   }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});</a:t>
            </a:r>
            <a:endParaRPr lang="en-GB" sz="1300" b="0" strike="noStrike" spc="-1" dirty="0">
              <a:latin typeface="Arial"/>
            </a:endParaRPr>
          </a:p>
          <a:p>
            <a:pPr>
              <a:lnSpc>
                <a:spcPct val="115000"/>
              </a:lnSpc>
            </a:pPr>
            <a:endParaRPr lang="en-GB" sz="13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34DB-2285-42C1-B3B3-D4CA3922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A79C4-707E-4055-B0EA-88B981B0F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Create a List screen using </a:t>
            </a:r>
            <a:r>
              <a:rPr lang="en-US" b="0" dirty="0" err="1"/>
              <a:t>RecyclerView</a:t>
            </a:r>
            <a:endParaRPr lang="en-US" b="0" dirty="0"/>
          </a:p>
          <a:p>
            <a:r>
              <a:rPr lang="en-US" b="0" dirty="0"/>
              <a:t>Load data from </a:t>
            </a:r>
            <a:r>
              <a:rPr lang="en-US" b="0" dirty="0" err="1"/>
              <a:t>api</a:t>
            </a:r>
            <a:r>
              <a:rPr lang="en-US" b="0" dirty="0"/>
              <a:t>: </a:t>
            </a:r>
            <a:r>
              <a:rPr lang="en-US" b="0" dirty="0">
                <a:hlinkClick r:id="rId2"/>
              </a:rPr>
              <a:t>https://jsonplaceholder.typicode.com/posts</a:t>
            </a:r>
            <a:endParaRPr lang="en-US" b="0" dirty="0"/>
          </a:p>
          <a:p>
            <a:r>
              <a:rPr lang="en-US" b="0" dirty="0"/>
              <a:t>Show data on </a:t>
            </a:r>
            <a:r>
              <a:rPr lang="en-US" b="0" dirty="0" err="1"/>
              <a:t>RecyclerView</a:t>
            </a:r>
            <a:endParaRPr lang="en-US" b="0" dirty="0"/>
          </a:p>
          <a:p>
            <a:endParaRPr lang="en-US" b="0" dirty="0"/>
          </a:p>
          <a:p>
            <a:pPr marL="114300" indent="0">
              <a:buNone/>
            </a:pPr>
            <a:r>
              <a:rPr lang="en-US" b="0" dirty="0"/>
              <a:t>(More </a:t>
            </a:r>
            <a:r>
              <a:rPr lang="en-US" b="0" dirty="0" err="1"/>
              <a:t>apis</a:t>
            </a:r>
            <a:r>
              <a:rPr lang="en-US" b="0" dirty="0"/>
              <a:t>: </a:t>
            </a:r>
            <a:r>
              <a:rPr lang="en-US" b="0" dirty="0">
                <a:hlinkClick r:id="rId3"/>
              </a:rPr>
              <a:t>https://jsonplaceholder.typicode.com/</a:t>
            </a:r>
            <a:r>
              <a:rPr lang="en-US" b="0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453124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99E0C-C0AF-465A-AF31-E51CCC73C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33903-65DA-4B4B-8BA3-A03A410F7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hlinkClick r:id="rId2"/>
              </a:rPr>
              <a:t>https://guides.codepath.com/android/consuming-apis-with-retrofit</a:t>
            </a:r>
            <a:endParaRPr lang="en-US" b="0" dirty="0"/>
          </a:p>
          <a:p>
            <a:r>
              <a:rPr lang="en-US" b="0" dirty="0">
                <a:hlinkClick r:id="rId3"/>
              </a:rPr>
              <a:t>https://jsonplaceholder.typicode.com/</a:t>
            </a: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824572"/>
      </p:ext>
    </p:extLst>
  </p:cSld>
  <p:clrMapOvr>
    <a:masterClrMapping/>
  </p:clrMapOvr>
</p:sld>
</file>

<file path=ppt/theme/theme1.xml><?xml version="1.0" encoding="utf-8"?>
<a:theme xmlns:a="http://schemas.openxmlformats.org/drawingml/2006/main" name="2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AndroidStructure" id="{C38918FD-31D2-4B51-A8B7-4A0EE41EC165}" vid="{6FFE7F4F-7E43-4C24-8C1D-EFA39DB96C43}"/>
    </a:ext>
  </a:extLst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AndroidStructure" id="{C38918FD-31D2-4B51-A8B7-4A0EE41EC165}" vid="{EF869649-281C-40A9-8AC9-A1A2B66CECBC}"/>
    </a:ext>
  </a:extLst>
</a:theme>
</file>

<file path=ppt/theme/theme3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AndroidStructure" id="{C38918FD-31D2-4B51-A8B7-4A0EE41EC165}" vid="{3942A3B0-E6F7-499B-90EA-0D4880C816DB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797</TotalTime>
  <Words>489</Words>
  <Application>Microsoft Office PowerPoint</Application>
  <PresentationFormat>On-screen Show (16:9)</PresentationFormat>
  <Paragraphs>82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Consolas</vt:lpstr>
      <vt:lpstr>Courier New</vt:lpstr>
      <vt:lpstr>Menlo</vt:lpstr>
      <vt:lpstr>Myriad Pro</vt:lpstr>
      <vt:lpstr>Tahoma</vt:lpstr>
      <vt:lpstr>Times New Roman</vt:lpstr>
      <vt:lpstr>Wingdings</vt:lpstr>
      <vt:lpstr>2_Theme1</vt:lpstr>
      <vt:lpstr>Theme1</vt:lpstr>
      <vt:lpstr>1_Theme1</vt:lpstr>
      <vt:lpstr>Web services - Retrofit</vt:lpstr>
      <vt:lpstr>Contents</vt:lpstr>
      <vt:lpstr>Android web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</dc:title>
  <cp:lastModifiedBy>Phan Tien Manh</cp:lastModifiedBy>
  <cp:revision>352</cp:revision>
  <dcterms:modified xsi:type="dcterms:W3CDTF">2025-11-04T06:27:00Z</dcterms:modified>
</cp:coreProperties>
</file>