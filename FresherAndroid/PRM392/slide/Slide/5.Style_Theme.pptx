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7"/>
  </p:notesMasterIdLst>
  <p:sldIdLst>
    <p:sldId id="256" r:id="rId2"/>
    <p:sldId id="257" r:id="rId3"/>
    <p:sldId id="296" r:id="rId4"/>
    <p:sldId id="284" r:id="rId5"/>
    <p:sldId id="285" r:id="rId6"/>
    <p:sldId id="297" r:id="rId7"/>
    <p:sldId id="293" r:id="rId8"/>
    <p:sldId id="294" r:id="rId9"/>
    <p:sldId id="295" r:id="rId10"/>
    <p:sldId id="298" r:id="rId11"/>
    <p:sldId id="299" r:id="rId12"/>
    <p:sldId id="290" r:id="rId13"/>
    <p:sldId id="292" r:id="rId14"/>
    <p:sldId id="300" r:id="rId15"/>
    <p:sldId id="301" r:id="rId1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>
        <p:scale>
          <a:sx n="100" d="100"/>
          <a:sy n="100" d="100"/>
        </p:scale>
        <p:origin x="452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35A86-98BC-4F5C-B0A1-4AE2291F6E2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0E439B-6B52-43EC-BC6F-2D2C000DDD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29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2747698"/>
            <a:ext cx="8890000" cy="411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2" t="-1288"/>
          <a:stretch/>
        </p:blipFill>
        <p:spPr bwMode="auto">
          <a:xfrm>
            <a:off x="65310" y="131989"/>
            <a:ext cx="3441398" cy="936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19502" y="3175001"/>
            <a:ext cx="8394700" cy="1827699"/>
          </a:xfrm>
        </p:spPr>
        <p:txBody>
          <a:bodyPr>
            <a:normAutofit/>
          </a:bodyPr>
          <a:lstStyle>
            <a:lvl1pPr>
              <a:defRPr sz="4533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19500" y="5143500"/>
            <a:ext cx="8407400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609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BAC869-44B2-4631-A58D-F0FF3FA7FAD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C9F94-01B9-4296-8453-45288607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1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53" t="-2744"/>
          <a:stretch/>
        </p:blipFill>
        <p:spPr bwMode="auto">
          <a:xfrm>
            <a:off x="87082" y="99331"/>
            <a:ext cx="1625602" cy="44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508000"/>
            <a:ext cx="10972800" cy="81850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600"/>
              </a:spcBef>
              <a:spcAft>
                <a:spcPts val="60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600"/>
              </a:spcBef>
              <a:spcAft>
                <a:spcPts val="60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600"/>
              </a:spcBef>
              <a:spcAft>
                <a:spcPts val="60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BAC869-44B2-4631-A58D-F0FF3FA7FAD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C9F94-01B9-4296-8453-45288607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62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sz="3733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600"/>
              </a:spcBef>
              <a:spcAft>
                <a:spcPts val="600"/>
              </a:spcAft>
              <a:defRPr sz="2667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sz="3733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600"/>
              </a:spcBef>
              <a:spcAft>
                <a:spcPts val="600"/>
              </a:spcAft>
              <a:defRPr sz="2667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BAC869-44B2-4631-A58D-F0FF3FA7FAD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C9F94-01B9-4296-8453-45288607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60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9554" indent="0">
              <a:buNone/>
              <a:defRPr sz="2667" b="1"/>
            </a:lvl2pPr>
            <a:lvl3pPr marL="1219108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6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4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 sz="2667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600"/>
              </a:spcBef>
              <a:spcAft>
                <a:spcPts val="60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2133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2133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09554" indent="0">
              <a:buNone/>
              <a:defRPr sz="2667" b="1"/>
            </a:lvl2pPr>
            <a:lvl3pPr marL="1219108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6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4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 sz="2667"/>
            </a:lvl2pPr>
            <a:lvl3pPr>
              <a:spcBef>
                <a:spcPts val="600"/>
              </a:spcBef>
              <a:spcAft>
                <a:spcPts val="600"/>
              </a:spcAft>
              <a:defRPr sz="2400"/>
            </a:lvl3pPr>
            <a:lvl4pPr>
              <a:spcBef>
                <a:spcPts val="600"/>
              </a:spcBef>
              <a:spcAft>
                <a:spcPts val="600"/>
              </a:spcAft>
              <a:defRPr sz="2133"/>
            </a:lvl4pPr>
            <a:lvl5pPr>
              <a:spcBef>
                <a:spcPts val="600"/>
              </a:spcBef>
              <a:spcAft>
                <a:spcPts val="600"/>
              </a:spcAft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BAC869-44B2-4631-A58D-F0FF3FA7FAD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C9F94-01B9-4296-8453-45288607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68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BAC869-44B2-4631-A58D-F0FF3FA7FAD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C9F94-01B9-4296-8453-45288607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9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BAC869-44B2-4631-A58D-F0FF3FA7FAD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C9F94-01B9-4296-8453-45288607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21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 sz="3733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600"/>
              </a:spcBef>
              <a:spcAft>
                <a:spcPts val="600"/>
              </a:spcAft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600"/>
              </a:spcBef>
              <a:spcAft>
                <a:spcPts val="600"/>
              </a:spcAft>
              <a:defRPr sz="2667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600"/>
              </a:spcBef>
              <a:spcAft>
                <a:spcPts val="600"/>
              </a:spcAft>
              <a:defRPr sz="2667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4" indent="0">
              <a:buNone/>
              <a:defRPr sz="1600"/>
            </a:lvl2pPr>
            <a:lvl3pPr marL="1219108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6" indent="0">
              <a:buNone/>
              <a:defRPr sz="1200"/>
            </a:lvl7pPr>
            <a:lvl8pPr marL="4266880" indent="0">
              <a:buNone/>
              <a:defRPr sz="1200"/>
            </a:lvl8pPr>
            <a:lvl9pPr marL="4876434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BAC869-44B2-4631-A58D-F0FF3FA7FAD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C9F94-01B9-4296-8453-45288607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29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54" indent="0">
              <a:buNone/>
              <a:defRPr sz="3733"/>
            </a:lvl2pPr>
            <a:lvl3pPr marL="1219108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6" indent="0">
              <a:buNone/>
              <a:defRPr sz="2667"/>
            </a:lvl7pPr>
            <a:lvl8pPr marL="4266880" indent="0">
              <a:buNone/>
              <a:defRPr sz="2667"/>
            </a:lvl8pPr>
            <a:lvl9pPr marL="4876434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4" indent="0">
              <a:buNone/>
              <a:defRPr sz="1600"/>
            </a:lvl2pPr>
            <a:lvl3pPr marL="1219108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6" indent="0">
              <a:buNone/>
              <a:defRPr sz="1200"/>
            </a:lvl7pPr>
            <a:lvl8pPr marL="4266880" indent="0">
              <a:buNone/>
              <a:defRPr sz="1200"/>
            </a:lvl8pPr>
            <a:lvl9pPr marL="4876434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BAC869-44B2-4631-A58D-F0FF3FA7FAD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C9F94-01B9-4296-8453-45288607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42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BAC869-44B2-4631-A58D-F0FF3FA7FAD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C9F94-01B9-4296-8453-45288607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19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6BAC869-44B2-4631-A58D-F0FF3FA7FAD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CC9F94-01B9-4296-8453-45288607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20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867" y="275167"/>
            <a:ext cx="1097227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867" y="1600729"/>
            <a:ext cx="10972271" cy="452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5500" y="6350001"/>
            <a:ext cx="1143000" cy="317500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D6BAC869-44B2-4631-A58D-F0FF3FA7FAD9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002" y="6350000"/>
            <a:ext cx="3860271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1219108" eaLnBrk="1" fontAlgn="auto" hangingPunct="1">
              <a:spcBef>
                <a:spcPts val="0"/>
              </a:spcBef>
              <a:spcAft>
                <a:spcPts val="0"/>
              </a:spcAft>
              <a:defRPr sz="16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9002" y="6350001"/>
            <a:ext cx="596636" cy="310887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31CC9F94-01B9-4296-8453-452886079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37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txStyles>
    <p:titleStyle>
      <a:lvl1pPr algn="l" defTabSz="1217900" rtl="0" eaLnBrk="1" fontAlgn="base" hangingPunct="1">
        <a:spcBef>
          <a:spcPct val="0"/>
        </a:spcBef>
        <a:spcAft>
          <a:spcPct val="0"/>
        </a:spcAft>
        <a:defRPr sz="3733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algn="l" defTabSz="1217900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1217900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1217900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1217900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426709" algn="ctr" defTabSz="1217900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1"/>
          </a:solidFill>
          <a:latin typeface="Tahoma" panose="020B0604030504040204" pitchFamily="34" charset="0"/>
        </a:defRPr>
      </a:lvl6pPr>
      <a:lvl7pPr marL="853419" algn="ctr" defTabSz="1217900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1"/>
          </a:solidFill>
          <a:latin typeface="Tahoma" panose="020B0604030504040204" pitchFamily="34" charset="0"/>
        </a:defRPr>
      </a:lvl7pPr>
      <a:lvl8pPr marL="1280128" algn="ctr" defTabSz="1217900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1"/>
          </a:solidFill>
          <a:latin typeface="Tahoma" panose="020B0604030504040204" pitchFamily="34" charset="0"/>
        </a:defRPr>
      </a:lvl8pPr>
      <a:lvl9pPr marL="1706837" algn="ctr" defTabSz="1217900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456342" indent="-456342" algn="l" defTabSz="12179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933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marL="989729" indent="-380780" algn="l" defTabSz="12179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667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2pPr>
      <a:lvl3pPr marL="1523115" indent="-303735" algn="l" defTabSz="12179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667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3pPr>
      <a:lvl4pPr marL="2132065" indent="-303735" algn="l" defTabSz="12179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667" i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4pPr>
      <a:lvl5pPr marL="2742497" indent="-303735" algn="l" defTabSz="12179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667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5pPr>
      <a:lvl6pPr marL="3352548" indent="-304778" algn="l" defTabSz="121910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2" indent="-304778" algn="l" defTabSz="121910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8" algn="l" defTabSz="121910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8" algn="l" defTabSz="1219108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4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08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6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4" algn="l" defTabSz="12191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lane.com/tutorial/android/android-styles-and-themes-with-examples" TargetMode="External"/><Relationship Id="rId2" Type="http://schemas.openxmlformats.org/officeDocument/2006/relationships/hyperlink" Target="https://google-developer-training.github.io/android-developer-fundamentals-course-concepts-v2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6E407-C763-481E-84A3-5DBE581578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Style and Theme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2755FE-E130-4D78-BA35-BEFF1B3CEA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1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D3151-023B-4F14-BA51-F2A6088E1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2176B-7D6E-4539-B448-1B51F7A34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Style</a:t>
            </a:r>
          </a:p>
          <a:p>
            <a:r>
              <a:rPr lang="en-US" dirty="0"/>
              <a:t>Theme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566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ABA7F-5127-4FD8-AD12-8B8940D4F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Style?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E6F9D-8669-41E7-93EA-5BA4E1A25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Collection of attributes that define the visual appearance of a View</a:t>
            </a:r>
          </a:p>
          <a:p>
            <a:r>
              <a:rPr lang="en-US" b="0" dirty="0"/>
              <a:t>Reduce duplication</a:t>
            </a:r>
          </a:p>
          <a:p>
            <a:r>
              <a:rPr lang="en-US" b="0" dirty="0"/>
              <a:t>Make code more compact</a:t>
            </a:r>
          </a:p>
          <a:p>
            <a:r>
              <a:rPr lang="en-US" b="0" dirty="0"/>
              <a:t>Manage visual appearance of many components with one style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605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2E641-55BC-48F5-8043-E2338389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CC3B-636F-4B89-9FB3-9237A1D87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856" y="1419225"/>
            <a:ext cx="10919903" cy="2502535"/>
          </a:xfrm>
        </p:spPr>
        <p:txBody>
          <a:bodyPr/>
          <a:lstStyle/>
          <a:p>
            <a:r>
              <a:rPr lang="en-US" sz="2500" b="0" dirty="0"/>
              <a:t>The XML file resides under res/values/ directory of your project and will have &lt;resources&gt; as the root node which is mandatory for the style file.</a:t>
            </a:r>
          </a:p>
          <a:p>
            <a:r>
              <a:rPr lang="en-US" sz="2500" b="0" dirty="0"/>
              <a:t>&lt;style&gt; tag is used to define a style.</a:t>
            </a:r>
          </a:p>
          <a:p>
            <a:r>
              <a:rPr lang="en-US" sz="2500" b="0" dirty="0"/>
              <a:t>Each style is uniquely identified by it’s name.</a:t>
            </a:r>
          </a:p>
          <a:p>
            <a:r>
              <a:rPr lang="en-US" sz="2500" b="0" dirty="0"/>
              <a:t>Style attributes can be set using the &lt;item&gt; tag.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D99CD6-C843-480F-93A5-D62A927204B6}"/>
              </a:ext>
            </a:extLst>
          </p:cNvPr>
          <p:cNvSpPr txBox="1"/>
          <p:nvPr/>
        </p:nvSpPr>
        <p:spPr>
          <a:xfrm>
            <a:off x="4450080" y="4014482"/>
            <a:ext cx="75196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resources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 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style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TextviewStyle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 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android:textColor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&gt;#86AD33&lt;/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 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android:textStyle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&gt;bold&lt;/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 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android:textSize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&gt;20sp&lt;/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 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android:padding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&gt;10dp&lt;/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 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resources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646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3EF13-1D0D-4F55-9DF3-CEBAFD24D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97E4D-814E-4948-A9A8-FB6868324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37433" cy="23082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i="0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TextView</a:t>
            </a:r>
            <a:br>
              <a:rPr lang="en-US" sz="20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sz="20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:id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"@+id/</a:t>
            </a:r>
            <a:r>
              <a:rPr lang="en-US" sz="2000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txtResult</a:t>
            </a:r>
            <a: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sz="20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:layout_width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wrap_content</a:t>
            </a:r>
            <a: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sz="20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:layout_height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wrap_content</a:t>
            </a:r>
            <a: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sz="20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:textColor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"#86AD33"</a:t>
            </a:r>
            <a:b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sz="20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:textSize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"20sp“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88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880000"/>
                </a:solidFill>
                <a:latin typeface="Consolas" panose="020B0609020204030204" pitchFamily="49" charset="0"/>
              </a:rPr>
              <a:t>android:padding</a:t>
            </a:r>
            <a:r>
              <a:rPr lang="en-US" sz="2000" dirty="0">
                <a:solidFill>
                  <a:srgbClr val="880000"/>
                </a:solidFill>
                <a:latin typeface="Consolas" panose="020B0609020204030204" pitchFamily="49" charset="0"/>
              </a:rPr>
              <a:t>=“10dp”</a:t>
            </a:r>
            <a:b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2000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sz="2000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:textStyle</a:t>
            </a:r>
            <a:r>
              <a:rPr lang="en-US" sz="20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"bold" </a:t>
            </a:r>
            <a:r>
              <a:rPr lang="en-US" sz="20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B4E59D-A43B-47A0-B9AF-19E049027F99}"/>
              </a:ext>
            </a:extLst>
          </p:cNvPr>
          <p:cNvSpPr txBox="1"/>
          <p:nvPr/>
        </p:nvSpPr>
        <p:spPr>
          <a:xfrm>
            <a:off x="6915150" y="1828800"/>
            <a:ext cx="52006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 err="1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TextView</a:t>
            </a:r>
            <a:b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:id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"@+id/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txtResult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:layout_width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wrap_content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:layout_height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wrap_content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style=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"@style/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TextviewStyle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b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b="0" i="0" dirty="0" err="1">
                <a:solidFill>
                  <a:srgbClr val="660E7A"/>
                </a:solidFill>
                <a:effectLst/>
                <a:latin typeface="Consolas" panose="020B0609020204030204" pitchFamily="49" charset="0"/>
              </a:rPr>
              <a:t>android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:text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"Welcome to Android"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23B26-E373-41D8-B876-024DDE5EA825}"/>
              </a:ext>
            </a:extLst>
          </p:cNvPr>
          <p:cNvSpPr txBox="1"/>
          <p:nvPr/>
        </p:nvSpPr>
        <p:spPr>
          <a:xfrm>
            <a:off x="714375" y="4048125"/>
            <a:ext cx="70675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resources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 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style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TextviewStyle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 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android:textColor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&gt;#86AD33&lt;/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 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android:textStyle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&gt;bold&lt;/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 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android:textSize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&gt;20sp&lt;/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     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android:padding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&gt;10dp&lt;/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 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resources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54A278-1EE4-420B-8622-24C5B7FD52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337"/>
          <a:stretch/>
        </p:blipFill>
        <p:spPr>
          <a:xfrm>
            <a:off x="7928319" y="3672626"/>
            <a:ext cx="3342864" cy="240091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46867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1C4E-7BF4-4238-9BF4-BFA7D179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Style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10C06-BA64-46BE-9F66-7C3DE9E1B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style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TextviewStyle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parent=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"@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android:style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Widget.TextView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 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android:textColor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&gt;#86AD33&lt;/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 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android:textStyle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&gt;bold&lt;/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   &lt;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name=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 err="1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android:textSize</a:t>
            </a:r>
            <a:r>
              <a:rPr lang="en-US" b="0" i="0" dirty="0">
                <a:solidFill>
                  <a:srgbClr val="88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&gt;20dp&lt;/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i="0" dirty="0"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475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01CD-070E-48D7-AB69-DBFC455A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Styling Color Palette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E4DA9-04CD-46AD-AB70-5851DB40C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230" y="1825625"/>
            <a:ext cx="6583592" cy="4351338"/>
          </a:xfrm>
        </p:spPr>
        <p:txBody>
          <a:bodyPr/>
          <a:lstStyle/>
          <a:p>
            <a:r>
              <a:rPr lang="en-US" sz="2500" dirty="0"/>
              <a:t>In android, we can customize the application basic theme colors based on our requirements.</a:t>
            </a:r>
          </a:p>
          <a:p>
            <a:r>
              <a:rPr lang="en-US" sz="2500" dirty="0"/>
              <a:t>The example of basic material design in the android application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Diagram&#10;&#10;Description automatically generated with low confidence">
            <a:extLst>
              <a:ext uri="{FF2B5EF4-FFF2-40B4-BE49-F238E27FC236}">
                <a16:creationId xmlns:a16="http://schemas.microsoft.com/office/drawing/2014/main" id="{FD1D01BE-0438-488D-87DE-E2DC422A0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069" y="189949"/>
            <a:ext cx="3734321" cy="645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39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01CD-070E-48D7-AB69-DBFC455A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Android's styling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E4DA9-04CD-46AD-AB70-5851DB40C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diagram shown below summarizes the precedence of each method of styling</a:t>
            </a:r>
          </a:p>
          <a:p>
            <a:r>
              <a:rPr lang="en-US" dirty="0"/>
              <a:t>Priority is top-down 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31291B3-6FD5-4464-9239-F8FCA48D64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761" t="1126" r="1868" b="-1126"/>
          <a:stretch/>
        </p:blipFill>
        <p:spPr>
          <a:xfrm>
            <a:off x="6222007" y="2706476"/>
            <a:ext cx="4725059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999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01CD-070E-48D7-AB69-DBFC455A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Android's styling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E4DA9-04CD-46AD-AB70-5851DB40C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293"/>
            <a:ext cx="10515600" cy="461767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View attributes</a:t>
            </a:r>
          </a:p>
          <a:p>
            <a:pPr lvl="1"/>
            <a:r>
              <a:rPr lang="en-US" dirty="0"/>
              <a:t>Use view attributes to set attributes explicitly for each view. (View attributes are not reusable, as styles are.)</a:t>
            </a:r>
          </a:p>
          <a:p>
            <a:pPr lvl="1"/>
            <a:r>
              <a:rPr lang="en-US" dirty="0"/>
              <a:t>You can use every property that can be set via styles or themes.</a:t>
            </a:r>
          </a:p>
          <a:p>
            <a:r>
              <a:rPr lang="en-US" dirty="0"/>
              <a:t>Styles</a:t>
            </a:r>
          </a:p>
          <a:p>
            <a:pPr lvl="1"/>
            <a:r>
              <a:rPr lang="en-US" dirty="0"/>
              <a:t>Use a style to create a collection of reusable styling information, such as font size or colors.</a:t>
            </a:r>
          </a:p>
          <a:p>
            <a:pPr lvl="1"/>
            <a:r>
              <a:rPr lang="en-US" dirty="0"/>
              <a:t>Good for declaring small sets of common designs used throughout your app.</a:t>
            </a:r>
          </a:p>
          <a:p>
            <a:r>
              <a:rPr lang="en-US" dirty="0"/>
              <a:t>Default style: </a:t>
            </a:r>
            <a:r>
              <a:rPr lang="en-US" b="0" dirty="0"/>
              <a:t>This is the default styling provided by the Android system.</a:t>
            </a:r>
          </a:p>
          <a:p>
            <a:r>
              <a:rPr lang="en-US" dirty="0"/>
              <a:t>Text Appearance: </a:t>
            </a:r>
            <a:r>
              <a:rPr lang="en-US" b="0" dirty="0"/>
              <a:t>For styling with text attributes only, such as font family.</a:t>
            </a:r>
          </a:p>
        </p:txBody>
      </p:sp>
    </p:spTree>
    <p:extLst>
      <p:ext uri="{BB962C8B-B14F-4D97-AF65-F5344CB8AC3E}">
        <p14:creationId xmlns:p14="http://schemas.microsoft.com/office/powerpoint/2010/main" val="2860819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8EBFB-C71C-44ED-B623-A2974FBEB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5A36F-82AA-4034-8984-B0C0CBD6A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Theme is a style applied to an entire activity or even the entire application </a:t>
            </a:r>
          </a:p>
          <a:p>
            <a:r>
              <a:rPr lang="en-US" dirty="0"/>
              <a:t>Themes are applied in AndroidManifest.xml</a:t>
            </a:r>
          </a:p>
          <a:p>
            <a:pPr marL="0" indent="0">
              <a:buNone/>
            </a:pPr>
            <a:r>
              <a:rPr lang="en-US" dirty="0"/>
              <a:t>      &lt;application </a:t>
            </a:r>
            <a:r>
              <a:rPr lang="en-US" dirty="0" err="1"/>
              <a:t>android:theme</a:t>
            </a:r>
            <a:r>
              <a:rPr lang="en-US" dirty="0"/>
              <a:t>="@style/</a:t>
            </a:r>
            <a:r>
              <a:rPr lang="en-US" dirty="0" err="1"/>
              <a:t>AppTheme</a:t>
            </a:r>
            <a:r>
              <a:rPr lang="en-US" dirty="0"/>
              <a:t>"&gt;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113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D740-5E03-4793-BAAE-01B43220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 </a:t>
            </a:r>
            <a:r>
              <a:rPr lang="en-US" dirty="0" err="1"/>
              <a:t>AppTheme</a:t>
            </a:r>
            <a:r>
              <a:rPr lang="en-US" dirty="0"/>
              <a:t> of Your Project</a:t>
            </a:r>
          </a:p>
        </p:txBody>
      </p:sp>
      <p:sp>
        <p:nvSpPr>
          <p:cNvPr id="4" name="Google Shape;486;p74">
            <a:extLst>
              <a:ext uri="{FF2B5EF4-FFF2-40B4-BE49-F238E27FC236}">
                <a16:creationId xmlns:a16="http://schemas.microsoft.com/office/drawing/2014/main" id="{89770732-AC91-4F9E-8A20-D1280CA6B31F}"/>
              </a:ext>
            </a:extLst>
          </p:cNvPr>
          <p:cNvSpPr txBox="1"/>
          <p:nvPr/>
        </p:nvSpPr>
        <p:spPr>
          <a:xfrm>
            <a:off x="415600" y="1317132"/>
            <a:ext cx="11507200" cy="4831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&lt;!-- Base application theme. --&gt;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&lt;style name="</a:t>
            </a:r>
            <a:r>
              <a:rPr lang="en" sz="2400" b="1" dirty="0">
                <a:latin typeface="Consolas"/>
                <a:ea typeface="Consolas"/>
                <a:cs typeface="Consolas"/>
                <a:sym typeface="Consolas"/>
              </a:rPr>
              <a:t>AppTheme</a:t>
            </a: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" </a:t>
            </a:r>
            <a:br>
              <a:rPr lang="en" sz="2400" dirty="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2400" b="1" dirty="0">
                <a:latin typeface="Consolas"/>
                <a:ea typeface="Consolas"/>
                <a:cs typeface="Consolas"/>
                <a:sym typeface="Consolas"/>
              </a:rPr>
              <a:t>parent="Theme.AppCompat.Light.DarkActionBar"</a:t>
            </a: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   &lt;!-- Try: Theme.AppCompat.Light.NoActionBar --&gt;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   &lt;!-- Customize your theme here. --&gt;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   &lt;item name="colorPrimary"&gt;@color/</a:t>
            </a:r>
            <a:r>
              <a:rPr lang="en" sz="2400" b="1" dirty="0">
                <a:latin typeface="Consolas"/>
                <a:ea typeface="Consolas"/>
                <a:cs typeface="Consolas"/>
                <a:sym typeface="Consolas"/>
              </a:rPr>
              <a:t>colorPrimary</a:t>
            </a: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&lt;/item&gt;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   &lt;item name="colorPrimaryDark"&gt;@color/</a:t>
            </a:r>
            <a:r>
              <a:rPr lang="en" sz="2400" b="1" dirty="0">
                <a:latin typeface="Consolas"/>
                <a:ea typeface="Consolas"/>
                <a:cs typeface="Consolas"/>
                <a:sym typeface="Consolas"/>
              </a:rPr>
              <a:t>colorPrimaryDark</a:t>
            </a: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&lt;/item&gt;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   &lt;item name="colorAccent"&gt;@color/</a:t>
            </a:r>
            <a:r>
              <a:rPr lang="en" sz="2400" b="1" dirty="0">
                <a:latin typeface="Consolas"/>
                <a:ea typeface="Consolas"/>
                <a:cs typeface="Consolas"/>
                <a:sym typeface="Consolas"/>
              </a:rPr>
              <a:t>colorAccent</a:t>
            </a: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&lt;/item&gt;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>
              <a:spcBef>
                <a:spcPts val="1333"/>
              </a:spcBef>
              <a:buClr>
                <a:schemeClr val="dk1"/>
              </a:buClr>
              <a:buSzPts val="1100"/>
            </a:pP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&lt;/style&gt;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090676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BD71-A034-4F3A-BD9E-BED37EE3B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D9A20-7549-4A8A-9E05-CAF862623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009" y="1577130"/>
            <a:ext cx="7264866" cy="45998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&lt;resources&gt;</a:t>
            </a:r>
          </a:p>
          <a:p>
            <a:pPr marL="0" indent="0">
              <a:buNone/>
            </a:pPr>
            <a:r>
              <a:rPr lang="en-US" sz="1800" dirty="0"/>
              <a:t>    &lt;style name="</a:t>
            </a:r>
            <a:r>
              <a:rPr lang="en-US" sz="1800" dirty="0" err="1"/>
              <a:t>AppTheme</a:t>
            </a:r>
            <a:r>
              <a:rPr lang="en-US" sz="1800" dirty="0"/>
              <a:t>" </a:t>
            </a:r>
          </a:p>
          <a:p>
            <a:pPr marL="0" indent="0">
              <a:buNone/>
            </a:pPr>
            <a:r>
              <a:rPr lang="en-US" sz="1800" b="1" dirty="0"/>
              <a:t>           parent="</a:t>
            </a:r>
            <a:r>
              <a:rPr lang="en-US" sz="1800" b="1" dirty="0" err="1"/>
              <a:t>Theme.AppCompat.Light.DarkActionBar</a:t>
            </a:r>
            <a:r>
              <a:rPr lang="en-US" sz="1800" b="1" dirty="0"/>
              <a:t>"</a:t>
            </a:r>
            <a:r>
              <a:rPr lang="en-US" sz="1800" dirty="0"/>
              <a:t>&gt;</a:t>
            </a:r>
          </a:p>
          <a:p>
            <a:pPr marL="0" indent="0">
              <a:buNone/>
            </a:pPr>
            <a:r>
              <a:rPr lang="en-US" sz="1800" dirty="0"/>
              <a:t>           &lt;item name="</a:t>
            </a:r>
            <a:r>
              <a:rPr lang="en-US" sz="1800" dirty="0" err="1"/>
              <a:t>colorPrimary</a:t>
            </a:r>
            <a:r>
              <a:rPr lang="en-US" sz="1800" dirty="0"/>
              <a:t>"&gt;@color/colorPrimary&lt;/item&gt;</a:t>
            </a:r>
          </a:p>
          <a:p>
            <a:pPr marL="0" indent="0">
              <a:buNone/>
            </a:pPr>
            <a:r>
              <a:rPr lang="en-US" sz="1800" dirty="0"/>
              <a:t>           &lt;item name="</a:t>
            </a:r>
            <a:r>
              <a:rPr lang="en-US" sz="1800" dirty="0" err="1"/>
              <a:t>colorPrimaryDark</a:t>
            </a:r>
            <a:r>
              <a:rPr lang="en-US" sz="1800" dirty="0"/>
              <a:t>"&gt;@color/colorPrimaryDark</a:t>
            </a:r>
          </a:p>
          <a:p>
            <a:pPr marL="0" indent="0">
              <a:buNone/>
            </a:pPr>
            <a:r>
              <a:rPr lang="en-US" sz="1800" dirty="0"/>
              <a:t>           &lt;/item&gt;</a:t>
            </a:r>
          </a:p>
          <a:p>
            <a:pPr marL="0" indent="0">
              <a:buNone/>
            </a:pPr>
            <a:r>
              <a:rPr lang="en-US" sz="1800" dirty="0"/>
              <a:t>           &lt;item name="</a:t>
            </a:r>
            <a:r>
              <a:rPr lang="en-US" sz="1800" dirty="0" err="1"/>
              <a:t>colorAccent</a:t>
            </a:r>
            <a:r>
              <a:rPr lang="en-US" sz="1800" dirty="0"/>
              <a:t>"&gt;@color/colorAccent&lt;/item&gt;</a:t>
            </a:r>
          </a:p>
          <a:p>
            <a:pPr marL="0" indent="0">
              <a:buNone/>
            </a:pPr>
            <a:r>
              <a:rPr lang="en-US" sz="1800" dirty="0"/>
              <a:t>    &lt;/style&gt;</a:t>
            </a:r>
          </a:p>
          <a:p>
            <a:pPr marL="0" indent="0">
              <a:buNone/>
            </a:pPr>
            <a:r>
              <a:rPr lang="en-US" sz="1800" dirty="0"/>
              <a:t>&lt;/resources&gt;</a:t>
            </a:r>
          </a:p>
        </p:txBody>
      </p:sp>
      <p:pic>
        <p:nvPicPr>
          <p:cNvPr id="5" name="Picture 4" descr="Chart&#10;&#10;Description automatically generated with low confidence">
            <a:extLst>
              <a:ext uri="{FF2B5EF4-FFF2-40B4-BE49-F238E27FC236}">
                <a16:creationId xmlns:a16="http://schemas.microsoft.com/office/drawing/2014/main" id="{069C61D4-9EDC-49A2-B925-23D350F69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647" y="1047354"/>
            <a:ext cx="3801005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97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BD71-A034-4F3A-BD9E-BED37EE3B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D9A20-7549-4A8A-9E05-CAF862623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454" y="1484850"/>
            <a:ext cx="7080308" cy="4932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&lt;resources&gt;</a:t>
            </a:r>
          </a:p>
          <a:p>
            <a:pPr marL="0" indent="0">
              <a:buNone/>
            </a:pPr>
            <a:r>
              <a:rPr lang="en-US" sz="1800" dirty="0"/>
              <a:t>    &lt;style name="</a:t>
            </a:r>
            <a:r>
              <a:rPr lang="en-US" sz="1800" dirty="0" err="1"/>
              <a:t>AppTheme</a:t>
            </a:r>
            <a:r>
              <a:rPr lang="en-US" sz="1800" dirty="0"/>
              <a:t>" </a:t>
            </a:r>
          </a:p>
          <a:p>
            <a:pPr marL="0" indent="0">
              <a:buNone/>
            </a:pPr>
            <a:r>
              <a:rPr lang="en-US" sz="1800" b="1" dirty="0"/>
              <a:t>               parent="</a:t>
            </a:r>
            <a:r>
              <a:rPr lang="en-US" sz="1800" b="1" dirty="0" err="1"/>
              <a:t>Theme.AppCompat.Light.NoActionBar</a:t>
            </a:r>
            <a:r>
              <a:rPr lang="en-US" sz="1800" b="1" dirty="0"/>
              <a:t>"</a:t>
            </a:r>
            <a:r>
              <a:rPr lang="en-US" sz="1800" dirty="0"/>
              <a:t>&gt;</a:t>
            </a:r>
          </a:p>
          <a:p>
            <a:pPr marL="0" indent="0">
              <a:buNone/>
            </a:pPr>
            <a:r>
              <a:rPr lang="en-US" sz="1800" dirty="0"/>
              <a:t>          &lt;item name="</a:t>
            </a:r>
            <a:r>
              <a:rPr lang="en-US" sz="1800" dirty="0" err="1"/>
              <a:t>colorPrimary</a:t>
            </a:r>
            <a:r>
              <a:rPr lang="en-US" sz="1800" dirty="0"/>
              <a:t>"&gt;@color/colorPrimary&lt;/item&gt;</a:t>
            </a:r>
          </a:p>
          <a:p>
            <a:pPr marL="0" indent="0">
              <a:buNone/>
            </a:pPr>
            <a:r>
              <a:rPr lang="en-US" sz="1800" dirty="0"/>
              <a:t>          &lt;item name="</a:t>
            </a:r>
            <a:r>
              <a:rPr lang="en-US" sz="1800" dirty="0" err="1"/>
              <a:t>colorPrimaryDark</a:t>
            </a:r>
            <a:r>
              <a:rPr lang="en-US" sz="1800" dirty="0"/>
              <a:t>"&gt;@color/colorPrimaryDark</a:t>
            </a:r>
          </a:p>
          <a:p>
            <a:pPr marL="0" indent="0">
              <a:buNone/>
            </a:pPr>
            <a:r>
              <a:rPr lang="en-US" sz="1800" dirty="0"/>
              <a:t>          &lt;/item&gt;</a:t>
            </a:r>
          </a:p>
          <a:p>
            <a:pPr marL="0" indent="0">
              <a:buNone/>
            </a:pPr>
            <a:r>
              <a:rPr lang="en-US" sz="1800" dirty="0"/>
              <a:t>          &lt;item name="</a:t>
            </a:r>
            <a:r>
              <a:rPr lang="en-US" sz="1800" dirty="0" err="1"/>
              <a:t>colorAccent</a:t>
            </a:r>
            <a:r>
              <a:rPr lang="en-US" sz="1800" dirty="0"/>
              <a:t>"&gt;@color/colorAccent&lt;/item&gt;</a:t>
            </a:r>
          </a:p>
          <a:p>
            <a:pPr marL="0" indent="0">
              <a:buNone/>
            </a:pPr>
            <a:r>
              <a:rPr lang="en-US" sz="1800" dirty="0"/>
              <a:t>    &lt;/style&gt;</a:t>
            </a:r>
          </a:p>
          <a:p>
            <a:pPr marL="0" indent="0">
              <a:buNone/>
            </a:pPr>
            <a:r>
              <a:rPr lang="en-US" sz="1800" dirty="0"/>
              <a:t>&lt;/resources&gt;</a:t>
            </a:r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961169B6-91C4-4E93-B603-B653AA8D7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949" y="879011"/>
            <a:ext cx="3543795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281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566A4-7E5A-4346-B82A-32A21464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E6ACD-2CF2-4541-8448-A57567B3B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867" y="1409351"/>
            <a:ext cx="10972271" cy="4717078"/>
          </a:xfrm>
        </p:spPr>
        <p:txBody>
          <a:bodyPr/>
          <a:lstStyle/>
          <a:p>
            <a:r>
              <a:rPr lang="en-US" dirty="0"/>
              <a:t>Apply style and theme to Login screens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5BAB4-AFF5-4656-85C4-93FF1254E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106" y="2026722"/>
            <a:ext cx="2635359" cy="46742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F5A9A9-ED9B-442F-9A00-399BD15F3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7950" y="2010656"/>
            <a:ext cx="2639980" cy="466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544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F13F1-D199-4E98-93DB-443A0CA3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E9A5E-91F3-44C7-A9A5-1F856AD10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https://google-developer-training.github.io/android-developer-fundamentals-course-concepts-v2/</a:t>
            </a:r>
            <a:endParaRPr lang="en-US" dirty="0"/>
          </a:p>
          <a:p>
            <a:r>
              <a:rPr lang="en-US" dirty="0">
                <a:hlinkClick r:id="rId3"/>
              </a:rPr>
              <a:t>https://www.tutlane.com/tutorial/android/android-styles-and-themes-with-examples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67410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.AndroidOverview_template" id="{7C972EFE-DC9C-4829-A5BF-885CDD1C7E61}" vid="{5AA4F883-CC0E-46F7-9CBE-FB8D1D43A5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1.AndroidOverview_template</Template>
  <TotalTime>330</TotalTime>
  <Words>891</Words>
  <Application>Microsoft Office PowerPoint</Application>
  <PresentationFormat>Widescreen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Consolas</vt:lpstr>
      <vt:lpstr>Myriad Pro</vt:lpstr>
      <vt:lpstr>Tahoma</vt:lpstr>
      <vt:lpstr>Times New Roman</vt:lpstr>
      <vt:lpstr>Theme1</vt:lpstr>
      <vt:lpstr>Style and Theme</vt:lpstr>
      <vt:lpstr>Contents</vt:lpstr>
      <vt:lpstr>What is a Style? </vt:lpstr>
      <vt:lpstr>Defining Styles</vt:lpstr>
      <vt:lpstr>Using style</vt:lpstr>
      <vt:lpstr>Android Style Inheritance</vt:lpstr>
      <vt:lpstr>Android Styling Color Palette</vt:lpstr>
      <vt:lpstr>Android's styling system</vt:lpstr>
      <vt:lpstr>Android's styling system</vt:lpstr>
      <vt:lpstr>Themes</vt:lpstr>
      <vt:lpstr>Customize AppTheme of Your Project</vt:lpstr>
      <vt:lpstr>Using theme</vt:lpstr>
      <vt:lpstr>Using theme</vt:lpstr>
      <vt:lpstr>Classwork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Võ Hoàng Phương Dung</dc:creator>
  <cp:lastModifiedBy>Phan Tien Manh</cp:lastModifiedBy>
  <cp:revision>117</cp:revision>
  <dcterms:created xsi:type="dcterms:W3CDTF">2021-07-10T09:29:05Z</dcterms:created>
  <dcterms:modified xsi:type="dcterms:W3CDTF">2025-09-19T10:33:22Z</dcterms:modified>
</cp:coreProperties>
</file>